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12"/>
    <p:restoredTop sz="94658"/>
  </p:normalViewPr>
  <p:slideViewPr>
    <p:cSldViewPr snapToGrid="0">
      <p:cViewPr varScale="1">
        <p:scale>
          <a:sx n="120" d="100"/>
          <a:sy n="120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54ACAC3-7932-4379-B917-F7F78C6F24BE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41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B6F81-747A-40C6-B81B-62F051B20082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78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69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B19E114-DE0F-4D79-972B-16F4D1534B50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12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723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6475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23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3806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32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5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6758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61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24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70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383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4150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206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08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4BB35E-97D9-4AD8-9F03-F1A28F5EDD3F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9250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524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58606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542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26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558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8/31/26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1944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37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112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940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84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A6428F-B8A3-4BF3-9E52-F3A445649D59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778" lnSpcReduction="20000"/>
          </a:bodyPr>
          <a:lstStyle/>
          <a:p>
            <a:pPr algn="l">
              <a:defRPr sz="1125" b="1">
                <a:solidFill>
                  <a:srgbClr val="9FC1FF"/>
                </a:solidFill>
              </a:defRPr>
            </a:pPr>
            <a:r>
              <a:rPr sz="1125" b="1">
                <a:solidFill>
                  <a:srgbClr val="9FC1FF"/>
                </a:solidFill>
              </a:rPr>
              <a:t>HTML FUNDAMENTALS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C2B5CC-FB40-4546-A161-1084D0C89EAC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19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366"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Build the web</a:t>
            </a:r>
          </a:p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from the inside out.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8F1A0-A2F8-4519-9893-52DAACE0A9E8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19" lnSpcReduction="20000"/>
          </a:bodyPr>
          <a:lstStyle/>
          <a:p>
            <a:pPr algn="l">
              <a:defRPr sz="1800" b="0">
                <a:solidFill>
                  <a:srgbClr val="D5DCEC"/>
                </a:solidFill>
              </a:defRPr>
            </a:pPr>
            <a:r>
              <a:rPr sz="1800" b="0">
                <a:solidFill>
                  <a:srgbClr val="D5DCEC"/>
                </a:solidFill>
              </a:rPr>
              <a:t>A visual, hands-on introduction to the language that gives a web page its structure and meaning.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9904BE-E36A-46FD-B03F-493808FEB450}"/>
              </a:ext>
            </a:extLst>
          </p:cNvPr>
          <p:cNvSpPr>
            <a:spLocks noGrp="1"/>
          </p:cNvSpPr>
          <p:nvPr/>
        </p:nvSpPr>
        <p:spPr>
          <a:xfrm>
            <a:off x="666750" y="5000625"/>
            <a:ext cx="1276350" cy="304800"/>
          </a:xfrm>
          <a:prstGeom prst="roundRect">
            <a:avLst>
              <a:gd name="adj" fmla="val 25000"/>
            </a:avLst>
          </a:prstGeom>
          <a:solidFill>
            <a:srgbClr val="316BFF"/>
          </a:solidFill>
          <a:ln w="0">
            <a:solidFill>
              <a:srgbClr val="31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3CAD3C-2B4F-4C79-9D31-EA71078138F7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04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STRUCTURE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493A12C-3BD9-4453-BB3B-ED960741105B}"/>
              </a:ext>
            </a:extLst>
          </p:cNvPr>
          <p:cNvSpPr>
            <a:spLocks noGrp="1"/>
          </p:cNvSpPr>
          <p:nvPr/>
        </p:nvSpPr>
        <p:spPr>
          <a:xfrm>
            <a:off x="2095500" y="5000625"/>
            <a:ext cx="1181100" cy="304800"/>
          </a:xfrm>
          <a:prstGeom prst="roundRect">
            <a:avLst>
              <a:gd name="adj" fmla="val 25000"/>
            </a:avLst>
          </a:prstGeom>
          <a:solidFill>
            <a:srgbClr val="35D0BA"/>
          </a:solidFill>
          <a:ln w="0">
            <a:solidFill>
              <a:srgbClr val="35D0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26ABA-FEED-46FC-972F-DF4D60A025D8}"/>
              </a:ext>
            </a:extLst>
          </p:cNvPr>
          <p:cNvSpPr>
            <a:spLocks noGrp="1"/>
          </p:cNvSpPr>
          <p:nvPr/>
        </p:nvSpPr>
        <p:spPr>
          <a:xfrm>
            <a:off x="2209800" y="506730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098DA4B-8DE2-44F9-A997-63C2C5B8B8C9}"/>
              </a:ext>
            </a:extLst>
          </p:cNvPr>
          <p:cNvSpPr>
            <a:spLocks noGrp="1"/>
          </p:cNvSpPr>
          <p:nvPr/>
        </p:nvSpPr>
        <p:spPr>
          <a:xfrm>
            <a:off x="7334250" y="1476375"/>
            <a:ext cx="3762375" cy="2857500"/>
          </a:xfrm>
          <a:prstGeom prst="roundRect">
            <a:avLst>
              <a:gd name="adj" fmla="val 2667"/>
            </a:avLst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D464CF-8190-4D81-92BE-5D1DAF8AA755}"/>
              </a:ext>
            </a:extLst>
          </p:cNvPr>
          <p:cNvSpPr>
            <a:spLocks noGrp="1"/>
          </p:cNvSpPr>
          <p:nvPr/>
        </p:nvSpPr>
        <p:spPr>
          <a:xfrm>
            <a:off x="7543800" y="1647825"/>
            <a:ext cx="104775" cy="104775"/>
          </a:xfrm>
          <a:prstGeom prst="ellipse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840C44-DF2E-4404-9442-2BAB6AEC3E95}"/>
              </a:ext>
            </a:extLst>
          </p:cNvPr>
          <p:cNvSpPr>
            <a:spLocks noGrp="1"/>
          </p:cNvSpPr>
          <p:nvPr/>
        </p:nvSpPr>
        <p:spPr>
          <a:xfrm>
            <a:off x="7734300" y="1647825"/>
            <a:ext cx="104775" cy="104775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B0B2AB1-C1DC-4C38-BF67-F575B8F8D1C2}"/>
              </a:ext>
            </a:extLst>
          </p:cNvPr>
          <p:cNvSpPr>
            <a:spLocks noGrp="1"/>
          </p:cNvSpPr>
          <p:nvPr/>
        </p:nvSpPr>
        <p:spPr>
          <a:xfrm>
            <a:off x="7924800" y="1647825"/>
            <a:ext cx="104775" cy="104775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7EA84E-475E-4D6E-93B8-6DDF8CE71BBF}"/>
              </a:ext>
            </a:extLst>
          </p:cNvPr>
          <p:cNvSpPr>
            <a:spLocks noGrp="1"/>
          </p:cNvSpPr>
          <p:nvPr/>
        </p:nvSpPr>
        <p:spPr>
          <a:xfrm>
            <a:off x="7620000" y="200977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&lt;!doctype html&gt;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16E9EA-DEC1-427F-AEF4-E81E45F1B009}"/>
              </a:ext>
            </a:extLst>
          </p:cNvPr>
          <p:cNvSpPr>
            <a:spLocks noGrp="1"/>
          </p:cNvSpPr>
          <p:nvPr/>
        </p:nvSpPr>
        <p:spPr>
          <a:xfrm>
            <a:off x="7620000" y="22860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EAF2FF"/>
                </a:solidFill>
              </a:defRPr>
            </a:pPr>
            <a:r>
              <a:rPr sz="1500" b="0">
                <a:solidFill>
                  <a:srgbClr val="EAF2FF"/>
                </a:solidFill>
              </a:rPr>
              <a:t>&lt;main&gt;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42A3B2-BC31-4885-B879-7698C3B47D0A}"/>
              </a:ext>
            </a:extLst>
          </p:cNvPr>
          <p:cNvSpPr>
            <a:spLocks noGrp="1"/>
          </p:cNvSpPr>
          <p:nvPr/>
        </p:nvSpPr>
        <p:spPr>
          <a:xfrm>
            <a:off x="7620000" y="256222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  &lt;h1&gt;Hello, web!&lt;/h1&gt;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B9486-817E-4239-ACEE-EB5085C3A059}"/>
              </a:ext>
            </a:extLst>
          </p:cNvPr>
          <p:cNvSpPr>
            <a:spLocks noGrp="1"/>
          </p:cNvSpPr>
          <p:nvPr/>
        </p:nvSpPr>
        <p:spPr>
          <a:xfrm>
            <a:off x="7620000" y="28384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EAF2FF"/>
                </a:solidFill>
              </a:defRPr>
            </a:pPr>
            <a:r>
              <a:rPr sz="1500" b="0">
                <a:solidFill>
                  <a:srgbClr val="EAF2FF"/>
                </a:solidFill>
              </a:rPr>
              <a:t>  &lt;p&gt;Start with HTML.&lt;/p&gt;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5969A9-67E7-48A9-AE9E-CF650EFDFB91}"/>
              </a:ext>
            </a:extLst>
          </p:cNvPr>
          <p:cNvSpPr>
            <a:spLocks noGrp="1"/>
          </p:cNvSpPr>
          <p:nvPr/>
        </p:nvSpPr>
        <p:spPr>
          <a:xfrm>
            <a:off x="7620000" y="311467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EAF2FF"/>
                </a:solidFill>
              </a:defRPr>
            </a:pPr>
            <a:r>
              <a:rPr sz="1500" b="0">
                <a:solidFill>
                  <a:srgbClr val="EAF2FF"/>
                </a:solidFill>
              </a:rPr>
              <a:t>&lt;/main&gt;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581744-A1E5-4474-9BC0-CEDB78F0C65A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B9C6DF"/>
                </a:solidFill>
              </a:defRPr>
            </a:pPr>
            <a:r>
              <a:rPr sz="825" b="1">
                <a:solidFill>
                  <a:srgbClr val="B9C6DF"/>
                </a:solidFill>
              </a:rPr>
              <a:t>HTML FUNDAMENTALS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4AF678-B7AD-467E-9C1C-8197B9C3DDB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B9C6DF"/>
                </a:solidFill>
              </a:defRPr>
            </a:pPr>
            <a:r>
              <a:rPr sz="825" b="1">
                <a:solidFill>
                  <a:srgbClr val="B9C6D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4210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DD36F2B-CA56-4C08-B127-A72310CD0BF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l">
              <a:defRPr sz="975" b="1">
                <a:solidFill>
                  <a:srgbClr val="316BFF"/>
                </a:solidFill>
              </a:defRPr>
            </a:pPr>
            <a:r>
              <a:rPr sz="975" b="1">
                <a:solidFill>
                  <a:srgbClr val="316BFF"/>
                </a:solidFill>
              </a:rPr>
              <a:t>LEARNING GOAL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6F1224-82E4-449E-A784-A2F6E1CB3B8D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561"/>
          </a:bodyPr>
          <a:lstStyle/>
          <a:p>
            <a:pPr algn="l">
              <a:defRPr sz="2850" b="1">
                <a:solidFill>
                  <a:srgbClr val="18233A"/>
                </a:solidFill>
              </a:defRPr>
            </a:pPr>
            <a:r>
              <a:rPr sz="2850" b="1">
                <a:solidFill>
                  <a:srgbClr val="18233A"/>
                </a:solidFill>
              </a:rPr>
              <a:t>By the end, you can build and explain a simple HTML page.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E4033D-3251-482E-B887-F13313158A6B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046819-BF34-49C2-8133-1210622AB158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HTML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2B2350-BA66-423E-9F36-E341E077CEE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40A1EA-BC19-4BBB-A726-B1D9B0A5F7F6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819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33" lnSpcReduction="20000"/>
          </a:bodyPr>
          <a:lstStyle/>
          <a:p>
            <a:pPr algn="l">
              <a:defRPr sz="1875" b="0">
                <a:solidFill>
                  <a:srgbClr val="526077"/>
                </a:solidFill>
              </a:defRPr>
            </a:pPr>
            <a:r>
              <a:rPr sz="1875" b="0">
                <a:solidFill>
                  <a:srgbClr val="526077"/>
                </a:solidFill>
              </a:rPr>
              <a:t>Start with structure. Then make every piece meaningful.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1A393D-D30D-4755-A366-A0BDD6756BEE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B63FBD-810E-4143-94EA-F292EE530FB9}"/>
              </a:ext>
            </a:extLst>
          </p:cNvPr>
          <p:cNvSpPr>
            <a:spLocks noGrp="1"/>
          </p:cNvSpPr>
          <p:nvPr/>
        </p:nvSpPr>
        <p:spPr>
          <a:xfrm>
            <a:off x="895350" y="31432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05" lnSpcReduction="20000"/>
          </a:bodyPr>
          <a:lstStyle/>
          <a:p>
            <a:pPr algn="l">
              <a:defRPr sz="1950" b="1">
                <a:solidFill>
                  <a:srgbClr val="316BFF"/>
                </a:solidFill>
              </a:defRPr>
            </a:pPr>
            <a:r>
              <a:rPr sz="1950" b="1">
                <a:solidFill>
                  <a:srgbClr val="316BFF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AB52FE-E7C8-4731-AD87-38F7D1B5012B}"/>
              </a:ext>
            </a:extLst>
          </p:cNvPr>
          <p:cNvSpPr>
            <a:spLocks noGrp="1"/>
          </p:cNvSpPr>
          <p:nvPr/>
        </p:nvSpPr>
        <p:spPr>
          <a:xfrm>
            <a:off x="895350" y="3619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defRPr sz="1500" b="1">
                <a:solidFill>
                  <a:srgbClr val="18233A"/>
                </a:solidFill>
              </a:defRPr>
            </a:pPr>
            <a:r>
              <a:rPr sz="1500" b="1">
                <a:solidFill>
                  <a:srgbClr val="18233A"/>
                </a:solidFill>
              </a:rPr>
              <a:t>READ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4AD08D-B287-4D2E-92AE-422CFCC51BDF}"/>
              </a:ext>
            </a:extLst>
          </p:cNvPr>
          <p:cNvSpPr>
            <a:spLocks noGrp="1"/>
          </p:cNvSpPr>
          <p:nvPr/>
        </p:nvSpPr>
        <p:spPr>
          <a:xfrm>
            <a:off x="895350" y="41148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77"/>
                </a:solidFill>
              </a:defRPr>
            </a:pPr>
            <a:r>
              <a:rPr sz="1500" b="0">
                <a:solidFill>
                  <a:srgbClr val="526077"/>
                </a:solidFill>
              </a:rPr>
              <a:t>Recognize the parts of a complete page.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70F21A-149B-42D4-B1BE-658D9EC56942}"/>
              </a:ext>
            </a:extLst>
          </p:cNvPr>
          <p:cNvSpPr>
            <a:spLocks noGrp="1"/>
          </p:cNvSpPr>
          <p:nvPr/>
        </p:nvSpPr>
        <p:spPr>
          <a:xfrm>
            <a:off x="4286250" y="2905125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E8F1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5DBA82-3A78-4DF0-9D4D-14CB71A01D9E}"/>
              </a:ext>
            </a:extLst>
          </p:cNvPr>
          <p:cNvSpPr>
            <a:spLocks noGrp="1"/>
          </p:cNvSpPr>
          <p:nvPr/>
        </p:nvSpPr>
        <p:spPr>
          <a:xfrm>
            <a:off x="4514850" y="31432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05" lnSpcReduction="20000"/>
          </a:bodyPr>
          <a:lstStyle/>
          <a:p>
            <a:pPr algn="l">
              <a:defRPr sz="1950" b="1">
                <a:solidFill>
                  <a:srgbClr val="316BFF"/>
                </a:solidFill>
              </a:defRPr>
            </a:pPr>
            <a:r>
              <a:rPr sz="1950" b="1">
                <a:solidFill>
                  <a:srgbClr val="316BFF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975A15-C697-4FB8-B4AC-57EB872FE70D}"/>
              </a:ext>
            </a:extLst>
          </p:cNvPr>
          <p:cNvSpPr>
            <a:spLocks noGrp="1"/>
          </p:cNvSpPr>
          <p:nvPr/>
        </p:nvSpPr>
        <p:spPr>
          <a:xfrm>
            <a:off x="4514850" y="3619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defRPr sz="1500" b="1">
                <a:solidFill>
                  <a:srgbClr val="18233A"/>
                </a:solidFill>
              </a:defRPr>
            </a:pPr>
            <a:r>
              <a:rPr sz="1500" b="1">
                <a:solidFill>
                  <a:srgbClr val="18233A"/>
                </a:solidFill>
              </a:rPr>
              <a:t>WRITE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64A035-D8A9-40E4-83D2-34F0AA47C9CA}"/>
              </a:ext>
            </a:extLst>
          </p:cNvPr>
          <p:cNvSpPr>
            <a:spLocks noGrp="1"/>
          </p:cNvSpPr>
          <p:nvPr/>
        </p:nvSpPr>
        <p:spPr>
          <a:xfrm>
            <a:off x="4514850" y="41148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77"/>
                </a:solidFill>
              </a:defRPr>
            </a:pPr>
            <a:r>
              <a:rPr sz="1500" b="0">
                <a:solidFill>
                  <a:srgbClr val="526077"/>
                </a:solidFill>
              </a:rPr>
              <a:t>Use tags, text, and attributes correctly.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79D529A-4028-4708-9A42-69DA665DD7B8}"/>
              </a:ext>
            </a:extLst>
          </p:cNvPr>
          <p:cNvSpPr>
            <a:spLocks noGrp="1"/>
          </p:cNvSpPr>
          <p:nvPr/>
        </p:nvSpPr>
        <p:spPr>
          <a:xfrm>
            <a:off x="7905750" y="2905125"/>
            <a:ext cx="3143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9A19D3-2073-448F-9BEC-77672CAA7A66}"/>
              </a:ext>
            </a:extLst>
          </p:cNvPr>
          <p:cNvSpPr>
            <a:spLocks noGrp="1"/>
          </p:cNvSpPr>
          <p:nvPr/>
        </p:nvSpPr>
        <p:spPr>
          <a:xfrm>
            <a:off x="8134350" y="31432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705" lnSpcReduction="20000"/>
          </a:bodyPr>
          <a:lstStyle/>
          <a:p>
            <a:pPr algn="l">
              <a:defRPr sz="1950" b="1">
                <a:solidFill>
                  <a:srgbClr val="316BFF"/>
                </a:solidFill>
              </a:defRPr>
            </a:pPr>
            <a:r>
              <a:rPr sz="1950" b="1">
                <a:solidFill>
                  <a:srgbClr val="316BFF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8E9615-179F-4678-A6E6-B6C2B50CC74A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67" lnSpcReduction="20000"/>
          </a:bodyPr>
          <a:lstStyle/>
          <a:p>
            <a:pPr algn="l">
              <a:defRPr sz="1500" b="1">
                <a:solidFill>
                  <a:srgbClr val="18233A"/>
                </a:solidFill>
              </a:defRPr>
            </a:pPr>
            <a:r>
              <a:rPr sz="1500" b="1">
                <a:solidFill>
                  <a:srgbClr val="18233A"/>
                </a:solidFill>
              </a:rPr>
              <a:t>EXPLAIN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BA71E-70D2-42F7-8EE0-8D0975BF7B1E}"/>
              </a:ext>
            </a:extLst>
          </p:cNvPr>
          <p:cNvSpPr>
            <a:spLocks noGrp="1"/>
          </p:cNvSpPr>
          <p:nvPr/>
        </p:nvSpPr>
        <p:spPr>
          <a:xfrm>
            <a:off x="8134350" y="41148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77"/>
                </a:solidFill>
              </a:defRPr>
            </a:pPr>
            <a:r>
              <a:rPr sz="1500" b="0">
                <a:solidFill>
                  <a:srgbClr val="526077"/>
                </a:solidFill>
              </a:rPr>
              <a:t>Choose elements based on meaning.</a:t>
            </a:r>
          </a:p>
        </p:txBody>
      </p:sp>
    </p:spTree>
    <p:extLst>
      <p:ext uri="{BB962C8B-B14F-4D97-AF65-F5344CB8AC3E}">
        <p14:creationId xmlns:p14="http://schemas.microsoft.com/office/powerpoint/2010/main" val="101613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E735959-B52B-4077-B2FC-EFAD5EF77C2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l">
              <a:defRPr sz="975" b="1">
                <a:solidFill>
                  <a:srgbClr val="316BFF"/>
                </a:solidFill>
              </a:defRPr>
            </a:pPr>
            <a:r>
              <a:rPr sz="975" b="1">
                <a:solidFill>
                  <a:srgbClr val="316BFF"/>
                </a:solidFill>
              </a:rPr>
              <a:t>ONE PAGE, ONE TEAM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532B54-1B27-48DA-B579-7ADE200DE3A0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104"/>
          </a:bodyPr>
          <a:lstStyle/>
          <a:p>
            <a:pPr algn="l">
              <a:defRPr sz="2850" b="1">
                <a:solidFill>
                  <a:srgbClr val="18233A"/>
                </a:solidFill>
              </a:defRPr>
            </a:pPr>
            <a:r>
              <a:rPr sz="2850" b="1">
                <a:solidFill>
                  <a:srgbClr val="18233A"/>
                </a:solidFill>
              </a:rPr>
              <a:t>HTML, CSS, and JavaScript collaborate on the same experience.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3D70B5-F841-459D-9926-5579A314A965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6092A-69D1-4CC4-A08A-114935274830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HTML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0A8A14-B608-44A1-8446-3F3328B2529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78CF0B-3D1F-47AE-B270-674C9C18ACD5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833" lnSpcReduction="20000"/>
          </a:bodyPr>
          <a:lstStyle/>
          <a:p>
            <a:pPr algn="l">
              <a:defRPr sz="1800" b="0">
                <a:solidFill>
                  <a:srgbClr val="526077"/>
                </a:solidFill>
              </a:defRPr>
            </a:pPr>
            <a:r>
              <a:rPr sz="1800" b="0">
                <a:solidFill>
                  <a:srgbClr val="526077"/>
                </a:solidFill>
              </a:rPr>
              <a:t>A single button is a useful way to see their shared job.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64A611-DC8B-4B2D-AD24-FE3782B9CC7A}"/>
              </a:ext>
            </a:extLst>
          </p:cNvPr>
          <p:cNvSpPr>
            <a:spLocks noGrp="1"/>
          </p:cNvSpPr>
          <p:nvPr/>
        </p:nvSpPr>
        <p:spPr>
          <a:xfrm>
            <a:off x="662178" y="2535936"/>
            <a:ext cx="108585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E3EF38-D4C4-48AE-8018-F8804B89354C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6905" lnSpcReduction="20000"/>
          </a:bodyPr>
          <a:lstStyle/>
          <a:p>
            <a:pPr algn="l">
              <a:defRPr sz="1050" b="1">
                <a:solidFill>
                  <a:srgbClr val="526077"/>
                </a:solidFill>
              </a:defRPr>
            </a:pPr>
            <a:r>
              <a:rPr sz="1050" b="1">
                <a:solidFill>
                  <a:srgbClr val="526077"/>
                </a:solidFill>
              </a:rPr>
              <a:t>ONE BUTTON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CF067F7-7BB9-424E-A678-BDFAF6BF581A}"/>
              </a:ext>
            </a:extLst>
          </p:cNvPr>
          <p:cNvSpPr>
            <a:spLocks noGrp="1"/>
          </p:cNvSpPr>
          <p:nvPr/>
        </p:nvSpPr>
        <p:spPr>
          <a:xfrm>
            <a:off x="904875" y="3076575"/>
            <a:ext cx="3810000" cy="104775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6D82C32-527F-4C1A-B362-62906804AF9D}"/>
              </a:ext>
            </a:extLst>
          </p:cNvPr>
          <p:cNvSpPr>
            <a:spLocks noGrp="1"/>
          </p:cNvSpPr>
          <p:nvPr/>
        </p:nvSpPr>
        <p:spPr>
          <a:xfrm>
            <a:off x="1114425" y="3248025"/>
            <a:ext cx="104775" cy="104775"/>
          </a:xfrm>
          <a:prstGeom prst="ellipse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617998-6205-47EE-8CCE-3A920F7F6EB0}"/>
              </a:ext>
            </a:extLst>
          </p:cNvPr>
          <p:cNvSpPr>
            <a:spLocks noGrp="1"/>
          </p:cNvSpPr>
          <p:nvPr/>
        </p:nvSpPr>
        <p:spPr>
          <a:xfrm>
            <a:off x="1304925" y="3248025"/>
            <a:ext cx="104775" cy="104775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75C87F-5FD4-46E0-AE70-2DF50C1DC908}"/>
              </a:ext>
            </a:extLst>
          </p:cNvPr>
          <p:cNvSpPr>
            <a:spLocks noGrp="1"/>
          </p:cNvSpPr>
          <p:nvPr/>
        </p:nvSpPr>
        <p:spPr>
          <a:xfrm>
            <a:off x="1495425" y="3248025"/>
            <a:ext cx="104775" cy="104775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7BC3AE-2ECC-4403-9CD6-26CC384B8940}"/>
              </a:ext>
            </a:extLst>
          </p:cNvPr>
          <p:cNvSpPr>
            <a:spLocks noGrp="1"/>
          </p:cNvSpPr>
          <p:nvPr/>
        </p:nvSpPr>
        <p:spPr>
          <a:xfrm>
            <a:off x="1190625" y="3609975"/>
            <a:ext cx="3286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547"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&lt;button class="save"&gt;Save&lt;/button&gt;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4B72CF-61F4-4D57-9446-D3DB700F853F}"/>
              </a:ext>
            </a:extLst>
          </p:cNvPr>
          <p:cNvSpPr>
            <a:spLocks noGrp="1"/>
          </p:cNvSpPr>
          <p:nvPr/>
        </p:nvSpPr>
        <p:spPr>
          <a:xfrm>
            <a:off x="904875" y="42291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037175-E709-4276-86FD-8F009224CB3E}"/>
              </a:ext>
            </a:extLst>
          </p:cNvPr>
          <p:cNvSpPr>
            <a:spLocks noGrp="1"/>
          </p:cNvSpPr>
          <p:nvPr/>
        </p:nvSpPr>
        <p:spPr>
          <a:xfrm>
            <a:off x="1114425" y="4400550"/>
            <a:ext cx="104775" cy="104775"/>
          </a:xfrm>
          <a:prstGeom prst="ellipse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5C766D8-CB7A-4C3D-AFB1-DC86E4C20596}"/>
              </a:ext>
            </a:extLst>
          </p:cNvPr>
          <p:cNvSpPr>
            <a:spLocks noGrp="1"/>
          </p:cNvSpPr>
          <p:nvPr/>
        </p:nvSpPr>
        <p:spPr>
          <a:xfrm>
            <a:off x="1304925" y="4400550"/>
            <a:ext cx="104775" cy="104775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D69166F-08D1-4E14-A58D-174166CFE3D6}"/>
              </a:ext>
            </a:extLst>
          </p:cNvPr>
          <p:cNvSpPr>
            <a:spLocks noGrp="1"/>
          </p:cNvSpPr>
          <p:nvPr/>
        </p:nvSpPr>
        <p:spPr>
          <a:xfrm>
            <a:off x="1495425" y="4400550"/>
            <a:ext cx="104775" cy="104775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D5615E-5719-4E50-9DD6-260A9FC0DE3A}"/>
              </a:ext>
            </a:extLst>
          </p:cNvPr>
          <p:cNvSpPr>
            <a:spLocks noGrp="1"/>
          </p:cNvSpPr>
          <p:nvPr/>
        </p:nvSpPr>
        <p:spPr>
          <a:xfrm>
            <a:off x="1190625" y="4762500"/>
            <a:ext cx="3286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333" lnSpcReduction="20000"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.save { background: blue; 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D9491A-55DB-47AF-8040-C312A6EC2173}"/>
              </a:ext>
            </a:extLst>
          </p:cNvPr>
          <p:cNvSpPr>
            <a:spLocks noGrp="1"/>
          </p:cNvSpPr>
          <p:nvPr/>
        </p:nvSpPr>
        <p:spPr>
          <a:xfrm>
            <a:off x="4953000" y="3095625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588" lnSpcReduction="20000"/>
          </a:bodyPr>
          <a:lstStyle/>
          <a:p>
            <a:pPr algn="l">
              <a:defRPr sz="1275" b="1">
                <a:solidFill>
                  <a:srgbClr val="316BFF"/>
                </a:solidFill>
              </a:defRPr>
            </a:pPr>
            <a:r>
              <a:rPr sz="1275" b="1">
                <a:solidFill>
                  <a:srgbClr val="316BFF"/>
                </a:solidFill>
              </a:rPr>
              <a:t>HTML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4D8488-3C8A-416A-9BAD-EDE7542437B2}"/>
              </a:ext>
            </a:extLst>
          </p:cNvPr>
          <p:cNvSpPr>
            <a:spLocks noGrp="1"/>
          </p:cNvSpPr>
          <p:nvPr/>
        </p:nvSpPr>
        <p:spPr>
          <a:xfrm>
            <a:off x="4953000" y="3381375"/>
            <a:ext cx="1095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944" lnSpcReduction="10000"/>
          </a:bodyPr>
          <a:lstStyle/>
          <a:p>
            <a:pPr algn="l">
              <a:defRPr sz="1125" b="0">
                <a:solidFill>
                  <a:srgbClr val="526077"/>
                </a:solidFill>
              </a:defRPr>
            </a:pPr>
            <a:r>
              <a:rPr sz="1125" b="0">
                <a:solidFill>
                  <a:srgbClr val="526077"/>
                </a:solidFill>
              </a:rPr>
              <a:t>names the</a:t>
            </a:r>
          </a:p>
          <a:p>
            <a:pPr algn="l">
              <a:defRPr sz="1125" b="0">
                <a:solidFill>
                  <a:srgbClr val="526077"/>
                </a:solidFill>
              </a:defRPr>
            </a:pPr>
            <a:r>
              <a:rPr sz="1125" b="0">
                <a:solidFill>
                  <a:srgbClr val="526077"/>
                </a:solidFill>
              </a:rPr>
              <a:t>button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F1A4AC-AF92-43C2-9F78-8086FEAA9247}"/>
              </a:ext>
            </a:extLst>
          </p:cNvPr>
          <p:cNvSpPr>
            <a:spLocks noGrp="1"/>
          </p:cNvSpPr>
          <p:nvPr/>
        </p:nvSpPr>
        <p:spPr>
          <a:xfrm>
            <a:off x="4953000" y="4286250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588" lnSpcReduction="20000"/>
          </a:bodyPr>
          <a:lstStyle/>
          <a:p>
            <a:pPr algn="l">
              <a:defRPr sz="1275" b="1">
                <a:solidFill>
                  <a:srgbClr val="35D0BA"/>
                </a:solidFill>
              </a:defRPr>
            </a:pPr>
            <a:r>
              <a:rPr sz="1275" b="1">
                <a:solidFill>
                  <a:srgbClr val="35D0BA"/>
                </a:solidFill>
              </a:rPr>
              <a:t>CSS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C7BF27-57C3-4E04-B88B-7FF65129D82F}"/>
              </a:ext>
            </a:extLst>
          </p:cNvPr>
          <p:cNvSpPr>
            <a:spLocks noGrp="1"/>
          </p:cNvSpPr>
          <p:nvPr/>
        </p:nvSpPr>
        <p:spPr>
          <a:xfrm>
            <a:off x="4953000" y="4572000"/>
            <a:ext cx="1190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944" lnSpcReduction="10000"/>
          </a:bodyPr>
          <a:lstStyle/>
          <a:p>
            <a:pPr algn="l">
              <a:defRPr sz="1125" b="0">
                <a:solidFill>
                  <a:srgbClr val="526077"/>
                </a:solidFill>
              </a:defRPr>
            </a:pPr>
            <a:r>
              <a:rPr sz="1125" b="0">
                <a:solidFill>
                  <a:srgbClr val="526077"/>
                </a:solidFill>
              </a:rPr>
              <a:t>gives the button</a:t>
            </a:r>
          </a:p>
          <a:p>
            <a:pPr algn="l">
              <a:defRPr sz="1125" b="0">
                <a:solidFill>
                  <a:srgbClr val="526077"/>
                </a:solidFill>
              </a:defRPr>
            </a:pPr>
            <a:r>
              <a:rPr sz="1125" b="0">
                <a:solidFill>
                  <a:srgbClr val="526077"/>
                </a:solidFill>
              </a:rPr>
              <a:t>a visual style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C896420-B622-4E11-8A33-F646BE586CBF}"/>
              </a:ext>
            </a:extLst>
          </p:cNvPr>
          <p:cNvSpPr>
            <a:spLocks noGrp="1"/>
          </p:cNvSpPr>
          <p:nvPr/>
        </p:nvSpPr>
        <p:spPr>
          <a:xfrm>
            <a:off x="8715375" y="3381374"/>
            <a:ext cx="1238250" cy="462535"/>
          </a:xfrm>
          <a:prstGeom prst="roundRect">
            <a:avLst>
              <a:gd name="adj" fmla="val 5882"/>
            </a:avLst>
          </a:prstGeom>
          <a:solidFill>
            <a:srgbClr val="E8F1FF"/>
          </a:solidFill>
          <a:ln w="19050">
            <a:solidFill>
              <a:srgbClr val="31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7F5C8E-FB36-4DE3-AB30-853ADB8DB4A8}"/>
              </a:ext>
            </a:extLst>
          </p:cNvPr>
          <p:cNvSpPr>
            <a:spLocks noGrp="1"/>
          </p:cNvSpPr>
          <p:nvPr/>
        </p:nvSpPr>
        <p:spPr>
          <a:xfrm>
            <a:off x="8453438" y="3424809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814" lnSpcReduction="10000"/>
          </a:bodyPr>
          <a:lstStyle/>
          <a:p>
            <a:pPr algn="ctr">
              <a:defRPr sz="2550" b="1">
                <a:solidFill>
                  <a:srgbClr val="316BFF"/>
                </a:solidFill>
              </a:defRPr>
            </a:pPr>
            <a:r>
              <a:rPr sz="2550" b="1" dirty="0">
                <a:solidFill>
                  <a:srgbClr val="316BFF"/>
                </a:solidFill>
              </a:rPr>
              <a:t>Save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5C7D68-868E-4F7B-BCD3-F1709D2A1732}"/>
              </a:ext>
            </a:extLst>
          </p:cNvPr>
          <p:cNvSpPr>
            <a:spLocks noGrp="1"/>
          </p:cNvSpPr>
          <p:nvPr/>
        </p:nvSpPr>
        <p:spPr>
          <a:xfrm>
            <a:off x="9953625" y="3667125"/>
            <a:ext cx="428625" cy="28575"/>
          </a:xfrm>
          <a:prstGeom prst="rect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B93C56-2964-4910-9780-9B1D958C721F}"/>
              </a:ext>
            </a:extLst>
          </p:cNvPr>
          <p:cNvSpPr>
            <a:spLocks noGrp="1"/>
          </p:cNvSpPr>
          <p:nvPr/>
        </p:nvSpPr>
        <p:spPr>
          <a:xfrm>
            <a:off x="10429875" y="30956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588" lnSpcReduction="20000"/>
          </a:bodyPr>
          <a:lstStyle/>
          <a:p>
            <a:pPr algn="l">
              <a:defRPr sz="1275" b="1">
                <a:solidFill>
                  <a:srgbClr val="FF6B5E"/>
                </a:solidFill>
              </a:defRPr>
            </a:pPr>
            <a:r>
              <a:rPr sz="1275" b="1">
                <a:solidFill>
                  <a:srgbClr val="FF6B5E"/>
                </a:solidFill>
              </a:rPr>
              <a:t>JavaScript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E37065-FB5D-4079-B791-DDEB69545355}"/>
              </a:ext>
            </a:extLst>
          </p:cNvPr>
          <p:cNvSpPr>
            <a:spLocks noGrp="1"/>
          </p:cNvSpPr>
          <p:nvPr/>
        </p:nvSpPr>
        <p:spPr>
          <a:xfrm>
            <a:off x="10429875" y="3381375"/>
            <a:ext cx="95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923" lnSpcReduction="20000"/>
          </a:bodyPr>
          <a:lstStyle/>
          <a:p>
            <a:pPr algn="l">
              <a:defRPr sz="1125" b="0">
                <a:solidFill>
                  <a:srgbClr val="526077"/>
                </a:solidFill>
              </a:defRPr>
            </a:pPr>
            <a:r>
              <a:rPr sz="1125" b="0">
                <a:solidFill>
                  <a:srgbClr val="526077"/>
                </a:solidFill>
              </a:rPr>
              <a:t>decides what</a:t>
            </a:r>
          </a:p>
          <a:p>
            <a:pPr algn="l">
              <a:defRPr sz="1125" b="0">
                <a:solidFill>
                  <a:srgbClr val="526077"/>
                </a:solidFill>
              </a:defRPr>
            </a:pPr>
            <a:r>
              <a:rPr sz="1125" b="0">
                <a:solidFill>
                  <a:srgbClr val="526077"/>
                </a:solidFill>
              </a:rPr>
              <a:t>happens on click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A118E4-DA45-49E0-860C-DC81AC4D1955}"/>
              </a:ext>
            </a:extLst>
          </p:cNvPr>
          <p:cNvSpPr>
            <a:spLocks noGrp="1"/>
          </p:cNvSpPr>
          <p:nvPr/>
        </p:nvSpPr>
        <p:spPr>
          <a:xfrm>
            <a:off x="666750" y="550545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52" lnSpcReduction="10000"/>
          </a:bodyPr>
          <a:lstStyle/>
          <a:p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button.addEventListener("click", saveFile)</a:t>
            </a:r>
          </a:p>
        </p:txBody>
      </p:sp>
    </p:spTree>
    <p:extLst>
      <p:ext uri="{BB962C8B-B14F-4D97-AF65-F5344CB8AC3E}">
        <p14:creationId xmlns:p14="http://schemas.microsoft.com/office/powerpoint/2010/main" val="1112443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AF3775D-EBAB-4A0C-9FB0-3AA6D19DCE6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l">
              <a:defRPr sz="975" b="1">
                <a:solidFill>
                  <a:srgbClr val="316BFF"/>
                </a:solidFill>
              </a:defRPr>
            </a:pPr>
            <a:r>
              <a:rPr sz="975" b="1">
                <a:solidFill>
                  <a:srgbClr val="316BFF"/>
                </a:solidFill>
              </a:rPr>
              <a:t>TAGS COME IN TWO FORMS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56CA30-09AD-4771-8E2B-3DA192F9B388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580"/>
          </a:bodyPr>
          <a:lstStyle/>
          <a:p>
            <a:pPr algn="l">
              <a:defRPr sz="2850" b="1">
                <a:solidFill>
                  <a:srgbClr val="18233A"/>
                </a:solidFill>
              </a:defRPr>
            </a:pPr>
            <a:r>
              <a:rPr sz="2850" b="1">
                <a:solidFill>
                  <a:srgbClr val="18233A"/>
                </a:solidFill>
              </a:rPr>
              <a:t>Some elements wrap content; some are complete by themselves.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AB6A3D-5003-45B7-B3BB-A8BC05712E78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4C55EC-031B-436B-8D0F-9A1358D9C403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HTML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4B6BC-18A2-4E67-A897-B6C220BD89F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221165-0AB3-4F49-9035-63D607DD2760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697" lnSpcReduction="20000"/>
          </a:bodyPr>
          <a:lstStyle/>
          <a:p>
            <a:pPr algn="l">
              <a:defRPr sz="1650" b="1">
                <a:solidFill>
                  <a:srgbClr val="316BFF"/>
                </a:solidFill>
              </a:defRPr>
            </a:pPr>
            <a:r>
              <a:rPr sz="1650" b="1">
                <a:solidFill>
                  <a:srgbClr val="316BFF"/>
                </a:solidFill>
              </a:rPr>
              <a:t>Paired element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609D6DB-90A4-4D6C-8151-09D6A0D750A5}"/>
              </a:ext>
            </a:extLst>
          </p:cNvPr>
          <p:cNvSpPr>
            <a:spLocks noGrp="1"/>
          </p:cNvSpPr>
          <p:nvPr/>
        </p:nvSpPr>
        <p:spPr>
          <a:xfrm>
            <a:off x="666750" y="2352675"/>
            <a:ext cx="4762500" cy="104775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59311E-E316-4CCF-9CE8-91C53ECEDB41}"/>
              </a:ext>
            </a:extLst>
          </p:cNvPr>
          <p:cNvSpPr>
            <a:spLocks noGrp="1"/>
          </p:cNvSpPr>
          <p:nvPr/>
        </p:nvSpPr>
        <p:spPr>
          <a:xfrm>
            <a:off x="876300" y="2524125"/>
            <a:ext cx="104775" cy="104775"/>
          </a:xfrm>
          <a:prstGeom prst="ellipse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CA30EC-114C-4819-8A9E-4DA46B07D7C1}"/>
              </a:ext>
            </a:extLst>
          </p:cNvPr>
          <p:cNvSpPr>
            <a:spLocks noGrp="1"/>
          </p:cNvSpPr>
          <p:nvPr/>
        </p:nvSpPr>
        <p:spPr>
          <a:xfrm>
            <a:off x="1066800" y="2524125"/>
            <a:ext cx="104775" cy="104775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677020-3248-4C7F-A94F-54333122A72D}"/>
              </a:ext>
            </a:extLst>
          </p:cNvPr>
          <p:cNvSpPr>
            <a:spLocks noGrp="1"/>
          </p:cNvSpPr>
          <p:nvPr/>
        </p:nvSpPr>
        <p:spPr>
          <a:xfrm>
            <a:off x="1257300" y="2524125"/>
            <a:ext cx="104775" cy="104775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753421-137E-41A9-B52C-0E07E168FCA4}"/>
              </a:ext>
            </a:extLst>
          </p:cNvPr>
          <p:cNvSpPr>
            <a:spLocks noGrp="1"/>
          </p:cNvSpPr>
          <p:nvPr/>
        </p:nvSpPr>
        <p:spPr>
          <a:xfrm>
            <a:off x="952500" y="2886075"/>
            <a:ext cx="4238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&lt;p&gt;Welcome!&lt;/p&gt;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DCDAA7-F88E-48F9-B6FF-66D970B91EBC}"/>
              </a:ext>
            </a:extLst>
          </p:cNvPr>
          <p:cNvSpPr>
            <a:spLocks noGrp="1"/>
          </p:cNvSpPr>
          <p:nvPr/>
        </p:nvSpPr>
        <p:spPr>
          <a:xfrm>
            <a:off x="914400" y="3467100"/>
            <a:ext cx="1143000" cy="28575"/>
          </a:xfrm>
          <a:prstGeom prst="rect">
            <a:avLst/>
          </a:prstGeom>
          <a:solidFill>
            <a:srgbClr val="316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C1EE37-F38C-4AE2-8E42-2A8E5C736F20}"/>
              </a:ext>
            </a:extLst>
          </p:cNvPr>
          <p:cNvSpPr>
            <a:spLocks noGrp="1"/>
          </p:cNvSpPr>
          <p:nvPr/>
        </p:nvSpPr>
        <p:spPr>
          <a:xfrm>
            <a:off x="2571750" y="3467100"/>
            <a:ext cx="1428750" cy="28575"/>
          </a:xfrm>
          <a:prstGeom prst="rect">
            <a:avLst/>
          </a:prstGeom>
          <a:solidFill>
            <a:srgbClr val="316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EBDB9B-007B-4D5F-914D-66C2E3C31814}"/>
              </a:ext>
            </a:extLst>
          </p:cNvPr>
          <p:cNvSpPr>
            <a:spLocks noGrp="1"/>
          </p:cNvSpPr>
          <p:nvPr/>
        </p:nvSpPr>
        <p:spPr>
          <a:xfrm>
            <a:off x="809625" y="3629025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8284" lnSpcReduction="20000"/>
          </a:bodyPr>
          <a:lstStyle/>
          <a:p>
            <a:pPr algn="l">
              <a:defRPr sz="1275" b="1">
                <a:solidFill>
                  <a:srgbClr val="526077"/>
                </a:solidFill>
              </a:defRPr>
            </a:pPr>
            <a:r>
              <a:rPr sz="1275" b="1">
                <a:solidFill>
                  <a:srgbClr val="526077"/>
                </a:solidFill>
              </a:rPr>
              <a:t>opening tag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D40953-BD57-46DC-B89B-44A7077D3645}"/>
              </a:ext>
            </a:extLst>
          </p:cNvPr>
          <p:cNvSpPr>
            <a:spLocks noGrp="1"/>
          </p:cNvSpPr>
          <p:nvPr/>
        </p:nvSpPr>
        <p:spPr>
          <a:xfrm>
            <a:off x="2571750" y="36290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8284" lnSpcReduction="20000"/>
          </a:bodyPr>
          <a:lstStyle/>
          <a:p>
            <a:pPr algn="l">
              <a:defRPr sz="1275" b="1">
                <a:solidFill>
                  <a:srgbClr val="526077"/>
                </a:solidFill>
              </a:defRPr>
            </a:pPr>
            <a:r>
              <a:rPr sz="1275" b="1">
                <a:solidFill>
                  <a:srgbClr val="526077"/>
                </a:solidFill>
              </a:rPr>
              <a:t>closing tag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3BD4EC-8DEC-4FFA-80E3-C75125164B84}"/>
              </a:ext>
            </a:extLst>
          </p:cNvPr>
          <p:cNvSpPr>
            <a:spLocks noGrp="1"/>
          </p:cNvSpPr>
          <p:nvPr/>
        </p:nvSpPr>
        <p:spPr>
          <a:xfrm>
            <a:off x="6429375" y="19526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697" lnSpcReduction="20000"/>
          </a:bodyPr>
          <a:lstStyle/>
          <a:p>
            <a:pPr algn="l">
              <a:defRPr sz="1650" b="1">
                <a:solidFill>
                  <a:srgbClr val="35D0BA"/>
                </a:solidFill>
              </a:defRPr>
            </a:pPr>
            <a:r>
              <a:rPr sz="1650" b="1">
                <a:solidFill>
                  <a:srgbClr val="35D0BA"/>
                </a:solidFill>
              </a:rPr>
              <a:t>Void element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C88061F-EA86-4174-A29E-48095B3FBC66}"/>
              </a:ext>
            </a:extLst>
          </p:cNvPr>
          <p:cNvSpPr>
            <a:spLocks noGrp="1"/>
          </p:cNvSpPr>
          <p:nvPr/>
        </p:nvSpPr>
        <p:spPr>
          <a:xfrm>
            <a:off x="6429375" y="2352675"/>
            <a:ext cx="4857750" cy="104775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732E45-A6B7-4F46-B1D2-EDF81A25CA70}"/>
              </a:ext>
            </a:extLst>
          </p:cNvPr>
          <p:cNvSpPr>
            <a:spLocks noGrp="1"/>
          </p:cNvSpPr>
          <p:nvPr/>
        </p:nvSpPr>
        <p:spPr>
          <a:xfrm>
            <a:off x="6638925" y="2524125"/>
            <a:ext cx="104775" cy="104775"/>
          </a:xfrm>
          <a:prstGeom prst="ellipse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A4E319A-8190-4A48-9124-28B8215A4807}"/>
              </a:ext>
            </a:extLst>
          </p:cNvPr>
          <p:cNvSpPr>
            <a:spLocks noGrp="1"/>
          </p:cNvSpPr>
          <p:nvPr/>
        </p:nvSpPr>
        <p:spPr>
          <a:xfrm>
            <a:off x="6829425" y="2524125"/>
            <a:ext cx="104775" cy="104775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DE8E0E3-128A-47C5-8C56-C921459C3D87}"/>
              </a:ext>
            </a:extLst>
          </p:cNvPr>
          <p:cNvSpPr>
            <a:spLocks noGrp="1"/>
          </p:cNvSpPr>
          <p:nvPr/>
        </p:nvSpPr>
        <p:spPr>
          <a:xfrm>
            <a:off x="7019925" y="2524125"/>
            <a:ext cx="104775" cy="104775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A4EDCE-9C96-4091-BEC7-8EE06325A9ED}"/>
              </a:ext>
            </a:extLst>
          </p:cNvPr>
          <p:cNvSpPr>
            <a:spLocks noGrp="1"/>
          </p:cNvSpPr>
          <p:nvPr/>
        </p:nvSpPr>
        <p:spPr>
          <a:xfrm>
            <a:off x="6715125" y="2886075"/>
            <a:ext cx="433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&lt;img src="trail.jpg" alt="Hikers"&gt;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5A6F5F-FFD3-4CD1-AE05-EBC3037AE23F}"/>
              </a:ext>
            </a:extLst>
          </p:cNvPr>
          <p:cNvSpPr>
            <a:spLocks noGrp="1"/>
          </p:cNvSpPr>
          <p:nvPr/>
        </p:nvSpPr>
        <p:spPr>
          <a:xfrm>
            <a:off x="6429375" y="3638550"/>
            <a:ext cx="4524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526077"/>
                </a:solidFill>
              </a:defRPr>
            </a:pPr>
            <a:r>
              <a:rPr sz="1500" b="0">
                <a:solidFill>
                  <a:srgbClr val="526077"/>
                </a:solidFill>
              </a:rPr>
              <a:t>No closing tag — it does not wrap inner content.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F9F3B55-47A3-4706-B53C-82751D9DFE9B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10620375" cy="952500"/>
          </a:xfrm>
          <a:prstGeom prst="roundRect">
            <a:avLst>
              <a:gd name="adj" fmla="val 8000"/>
            </a:avLst>
          </a:prstGeom>
          <a:solidFill>
            <a:srgbClr val="FDF8EF"/>
          </a:solidFill>
          <a:ln w="9525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17421F-AC0E-4302-B055-54649CFCBD4C}"/>
              </a:ext>
            </a:extLst>
          </p:cNvPr>
          <p:cNvSpPr>
            <a:spLocks noGrp="1"/>
          </p:cNvSpPr>
          <p:nvPr/>
        </p:nvSpPr>
        <p:spPr>
          <a:xfrm>
            <a:off x="895350" y="497205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825"/>
          </a:bodyPr>
          <a:lstStyle/>
          <a:p>
            <a:pPr algn="l"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Attributes live in the opening tag:  src="…"  and  alt="…"  tell the browser more about the image.</a:t>
            </a:r>
          </a:p>
        </p:txBody>
      </p:sp>
    </p:spTree>
    <p:extLst>
      <p:ext uri="{BB962C8B-B14F-4D97-AF65-F5344CB8AC3E}">
        <p14:creationId xmlns:p14="http://schemas.microsoft.com/office/powerpoint/2010/main" val="141212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14D41D1-CF5B-4B5D-A5E9-052F589498CD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l">
              <a:defRPr sz="975" b="1">
                <a:solidFill>
                  <a:srgbClr val="316BFF"/>
                </a:solidFill>
              </a:defRPr>
            </a:pPr>
            <a:r>
              <a:rPr sz="975" b="1">
                <a:solidFill>
                  <a:srgbClr val="316BFF"/>
                </a:solidFill>
              </a:rPr>
              <a:t>THE DOCUMENT SKELETON HAS CLEAR LAYERS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308CB-A142-49FB-BB3B-7F7553A97D9C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561"/>
          </a:bodyPr>
          <a:lstStyle/>
          <a:p>
            <a:pPr algn="l">
              <a:defRPr sz="2850" b="1">
                <a:solidFill>
                  <a:srgbClr val="18233A"/>
                </a:solidFill>
              </a:defRPr>
            </a:pPr>
            <a:r>
              <a:rPr sz="2850" b="1">
                <a:solidFill>
                  <a:srgbClr val="18233A"/>
                </a:solidFill>
              </a:rPr>
              <a:t>Modern HTML starts simple; old doctypes did not.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5300B0-2CBB-43E3-8A9D-89348EDA1AFB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B499AC-8DEB-4D4E-B8D4-7F8CEC27E928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HTML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E8BE40-DABE-4C8A-BDB2-5D6008CE1DD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81BDF5-498C-4091-8893-10C24BEF428F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 lnSpcReduction="20000"/>
          </a:bodyPr>
          <a:lstStyle/>
          <a:p>
            <a:pPr algn="l">
              <a:defRPr sz="1500" b="1">
                <a:solidFill>
                  <a:srgbClr val="35D0BA"/>
                </a:solidFill>
              </a:defRPr>
            </a:pPr>
            <a:r>
              <a:rPr sz="1500" b="1">
                <a:solidFill>
                  <a:srgbClr val="35D0BA"/>
                </a:solidFill>
              </a:rPr>
              <a:t>Modern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7915637-87E5-496F-8719-62CA2C9671D0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667250" cy="809625"/>
          </a:xfrm>
          <a:prstGeom prst="roundRect">
            <a:avLst>
              <a:gd name="adj" fmla="val 9412"/>
            </a:avLst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94C65B-5EBC-4967-9678-67F8BF8D00DF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04775" cy="104775"/>
          </a:xfrm>
          <a:prstGeom prst="ellipse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A000FE-B9F7-47AF-8EBF-076D4F5FF184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104775" cy="104775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20F60C-6CD4-42F4-8958-16311A443889}"/>
              </a:ext>
            </a:extLst>
          </p:cNvPr>
          <p:cNvSpPr>
            <a:spLocks noGrp="1"/>
          </p:cNvSpPr>
          <p:nvPr/>
        </p:nvSpPr>
        <p:spPr>
          <a:xfrm>
            <a:off x="1257300" y="2266950"/>
            <a:ext cx="104775" cy="104775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52D639-AAA4-4490-961C-5A739B4C98FA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4143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333" lnSpcReduction="20000"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&lt;!doctype html&gt;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AAB574-4FAB-437B-BCA1-B8DAC2A47EF2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5000" lnSpcReduction="20000"/>
          </a:bodyPr>
          <a:lstStyle/>
          <a:p>
            <a:pPr algn="l">
              <a:defRPr sz="1500" b="1">
                <a:solidFill>
                  <a:srgbClr val="FF6B5E"/>
                </a:solidFill>
              </a:defRPr>
            </a:pPr>
            <a:r>
              <a:rPr sz="1500" b="1">
                <a:solidFill>
                  <a:srgbClr val="FF6B5E"/>
                </a:solidFill>
              </a:rPr>
              <a:t>Old HTML 4.01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0EECD1-CD90-4E40-8EC3-996F0F487D63}"/>
              </a:ext>
            </a:extLst>
          </p:cNvPr>
          <p:cNvSpPr>
            <a:spLocks noGrp="1"/>
          </p:cNvSpPr>
          <p:nvPr/>
        </p:nvSpPr>
        <p:spPr>
          <a:xfrm>
            <a:off x="666750" y="3429000"/>
            <a:ext cx="4667250" cy="1238250"/>
          </a:xfrm>
          <a:prstGeom prst="roundRect">
            <a:avLst>
              <a:gd name="adj" fmla="val 6154"/>
            </a:avLst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79B289A-174A-4B0B-A6FA-B295053136BC}"/>
              </a:ext>
            </a:extLst>
          </p:cNvPr>
          <p:cNvSpPr>
            <a:spLocks noGrp="1"/>
          </p:cNvSpPr>
          <p:nvPr/>
        </p:nvSpPr>
        <p:spPr>
          <a:xfrm>
            <a:off x="876300" y="3600450"/>
            <a:ext cx="104775" cy="104775"/>
          </a:xfrm>
          <a:prstGeom prst="ellipse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3523B3C-877C-411A-987A-8024BA2A5D30}"/>
              </a:ext>
            </a:extLst>
          </p:cNvPr>
          <p:cNvSpPr>
            <a:spLocks noGrp="1"/>
          </p:cNvSpPr>
          <p:nvPr/>
        </p:nvSpPr>
        <p:spPr>
          <a:xfrm>
            <a:off x="1066800" y="3600450"/>
            <a:ext cx="104775" cy="104775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1AC8C8-8A60-4610-A9A6-F08A44973A17}"/>
              </a:ext>
            </a:extLst>
          </p:cNvPr>
          <p:cNvSpPr>
            <a:spLocks noGrp="1"/>
          </p:cNvSpPr>
          <p:nvPr/>
        </p:nvSpPr>
        <p:spPr>
          <a:xfrm>
            <a:off x="1257300" y="3600450"/>
            <a:ext cx="104775" cy="104775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19181F-8FD5-476F-AB4B-8CD94EC27C6B}"/>
              </a:ext>
            </a:extLst>
          </p:cNvPr>
          <p:cNvSpPr>
            <a:spLocks noGrp="1"/>
          </p:cNvSpPr>
          <p:nvPr/>
        </p:nvSpPr>
        <p:spPr>
          <a:xfrm>
            <a:off x="952500" y="3962400"/>
            <a:ext cx="4143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377" lnSpcReduction="20000"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&lt;!DOCTYPE HTML PUBLIC "-//W3C//DTD HTML 4.01//EN"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0C909C-1503-4B04-9CEF-024C3E73FFEC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4143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  "http://www.w3.org/TR/html4/strict.dtd"&gt;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741AEA-72DD-4FB3-A137-48AD76B5FEC9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425" b="0">
                <a:solidFill>
                  <a:srgbClr val="526077"/>
                </a:solidFill>
              </a:defRPr>
            </a:pPr>
            <a:r>
              <a:rPr sz="1425" b="0">
                <a:solidFill>
                  <a:srgbClr val="526077"/>
                </a:solidFill>
              </a:rPr>
              <a:t>One line communicates the same goal today — that is why modern doctype is preferred.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55B0F10-709F-4C39-84D7-9E802E441EB1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5095875" cy="3476625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ADD8C8-D65E-485F-8BF4-339AEDE4F4C1}"/>
              </a:ext>
            </a:extLst>
          </p:cNvPr>
          <p:cNvSpPr>
            <a:spLocks noGrp="1"/>
          </p:cNvSpPr>
          <p:nvPr/>
        </p:nvSpPr>
        <p:spPr>
          <a:xfrm>
            <a:off x="6477000" y="2047875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167" lnSpcReduction="20000"/>
          </a:bodyPr>
          <a:lstStyle/>
          <a:p>
            <a:pPr algn="l">
              <a:defRPr sz="1500" b="1">
                <a:solidFill>
                  <a:srgbClr val="18233A"/>
                </a:solidFill>
              </a:defRPr>
            </a:pPr>
            <a:r>
              <a:rPr sz="1500" b="1">
                <a:solidFill>
                  <a:srgbClr val="18233A"/>
                </a:solidFill>
              </a:rPr>
              <a:t>Do not mix up these three: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42D775-06E8-4DCF-913B-BCE553FE35E1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796" lnSpcReduction="20000"/>
          </a:bodyPr>
          <a:lstStyle/>
          <a:p>
            <a:pPr algn="l">
              <a:defRPr sz="1350" b="1">
                <a:solidFill>
                  <a:srgbClr val="316BFF"/>
                </a:solidFill>
              </a:defRPr>
            </a:pPr>
            <a:r>
              <a:rPr sz="1350" b="1">
                <a:solidFill>
                  <a:srgbClr val="316BFF"/>
                </a:solidFill>
              </a:rPr>
              <a:t>&lt;head&gt;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F316F4-9D3A-41BE-B658-C89C13F190EA}"/>
              </a:ext>
            </a:extLst>
          </p:cNvPr>
          <p:cNvSpPr>
            <a:spLocks noGrp="1"/>
          </p:cNvSpPr>
          <p:nvPr/>
        </p:nvSpPr>
        <p:spPr>
          <a:xfrm>
            <a:off x="7858125" y="2571750"/>
            <a:ext cx="3095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679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hidden metadata: title, charset, links to CSS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8923CB-9D14-4502-A9C3-406028F61166}"/>
              </a:ext>
            </a:extLst>
          </p:cNvPr>
          <p:cNvSpPr>
            <a:spLocks noGrp="1"/>
          </p:cNvSpPr>
          <p:nvPr/>
        </p:nvSpPr>
        <p:spPr>
          <a:xfrm>
            <a:off x="6477000" y="3352800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796" lnSpcReduction="20000"/>
          </a:bodyPr>
          <a:lstStyle/>
          <a:p>
            <a:pPr algn="l">
              <a:defRPr sz="1350" b="1">
                <a:solidFill>
                  <a:srgbClr val="35D0BA"/>
                </a:solidFill>
              </a:defRPr>
            </a:pPr>
            <a:r>
              <a:rPr sz="1350" b="1">
                <a:solidFill>
                  <a:srgbClr val="35D0BA"/>
                </a:solidFill>
              </a:rPr>
              <a:t>&lt;header&gt;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BFC0E9-E4DD-4233-81DD-47332E6B48FF}"/>
              </a:ext>
            </a:extLst>
          </p:cNvPr>
          <p:cNvSpPr>
            <a:spLocks noGrp="1"/>
          </p:cNvSpPr>
          <p:nvPr/>
        </p:nvSpPr>
        <p:spPr>
          <a:xfrm>
            <a:off x="7858125" y="3352800"/>
            <a:ext cx="3095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6756" lnSpcReduction="1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visible introductory section of a page or article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2DA05F-3B50-49AA-B2A4-93BAC693FF87}"/>
              </a:ext>
            </a:extLst>
          </p:cNvPr>
          <p:cNvSpPr>
            <a:spLocks noGrp="1"/>
          </p:cNvSpPr>
          <p:nvPr/>
        </p:nvSpPr>
        <p:spPr>
          <a:xfrm>
            <a:off x="6477000" y="4133850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8796" lnSpcReduction="20000"/>
          </a:bodyPr>
          <a:lstStyle/>
          <a:p>
            <a:pPr algn="l">
              <a:defRPr sz="1350" b="1">
                <a:solidFill>
                  <a:srgbClr val="FF6B5E"/>
                </a:solidFill>
              </a:defRPr>
            </a:pPr>
            <a:r>
              <a:rPr sz="1350" b="1">
                <a:solidFill>
                  <a:srgbClr val="FF6B5E"/>
                </a:solidFill>
              </a:rPr>
              <a:t>&lt;h1&gt;–&lt;h6&gt;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6E256C-279A-4971-A8E5-926EA4D1D25E}"/>
              </a:ext>
            </a:extLst>
          </p:cNvPr>
          <p:cNvSpPr>
            <a:spLocks noGrp="1"/>
          </p:cNvSpPr>
          <p:nvPr/>
        </p:nvSpPr>
        <p:spPr>
          <a:xfrm>
            <a:off x="7858125" y="4133850"/>
            <a:ext cx="3095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headings that organize visible content</a:t>
            </a:r>
          </a:p>
        </p:txBody>
      </p:sp>
    </p:spTree>
    <p:extLst>
      <p:ext uri="{BB962C8B-B14F-4D97-AF65-F5344CB8AC3E}">
        <p14:creationId xmlns:p14="http://schemas.microsoft.com/office/powerpoint/2010/main" val="1758842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A2173C7-0385-469C-B3B8-5699528A694E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l">
              <a:defRPr sz="975" b="1">
                <a:solidFill>
                  <a:srgbClr val="316BFF"/>
                </a:solidFill>
              </a:defRPr>
            </a:pPr>
            <a:r>
              <a:rPr sz="975" b="1">
                <a:solidFill>
                  <a:srgbClr val="316BFF"/>
                </a:solidFill>
              </a:rPr>
              <a:t>HEADINGS CREATE A MAP FOR THE READER.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0AAA62-DCCB-4552-A2A5-285B57F42D09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561"/>
          </a:bodyPr>
          <a:lstStyle/>
          <a:p>
            <a:pPr algn="l">
              <a:defRPr sz="2850" b="1">
                <a:solidFill>
                  <a:srgbClr val="18233A"/>
                </a:solidFill>
              </a:defRPr>
            </a:pPr>
            <a:r>
              <a:rPr sz="2850" b="1" dirty="0">
                <a:solidFill>
                  <a:srgbClr val="18233A"/>
                </a:solidFill>
              </a:rPr>
              <a:t>Meaningful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C85FD-9BE5-4316-9A75-8A82B423B39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2AD3FD-A52D-44FA-ADF9-568379CC39C0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HTML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2EDC31-0F39-4E4D-B2E6-7FA2E13B1D5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06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D0CA625-092E-4D5A-AD12-3C30A605D5D9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5905500" cy="1952625"/>
          </a:xfrm>
          <a:prstGeom prst="roundRect">
            <a:avLst>
              <a:gd name="adj" fmla="val 3902"/>
            </a:avLst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649269-0841-4549-8D97-B57220C2A219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04775" cy="104775"/>
          </a:xfrm>
          <a:prstGeom prst="ellipse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28D79E-B696-4D9F-9C55-F19350FDD560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104775" cy="104775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D6A5FB-5EC6-4D31-9D9F-A9818DA6C12B}"/>
              </a:ext>
            </a:extLst>
          </p:cNvPr>
          <p:cNvSpPr>
            <a:spLocks noGrp="1"/>
          </p:cNvSpPr>
          <p:nvPr/>
        </p:nvSpPr>
        <p:spPr>
          <a:xfrm>
            <a:off x="1257300" y="2266950"/>
            <a:ext cx="104775" cy="104775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B310F0-236A-42A1-8E4B-C7752221A038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538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&lt;h1&gt;Weekend hiking guide&lt;/h1&gt;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C707FE-6025-4FF3-AFCA-35FC84E746F9}"/>
              </a:ext>
            </a:extLst>
          </p:cNvPr>
          <p:cNvSpPr>
            <a:spLocks noGrp="1"/>
          </p:cNvSpPr>
          <p:nvPr/>
        </p:nvSpPr>
        <p:spPr>
          <a:xfrm>
            <a:off x="952500" y="2905125"/>
            <a:ext cx="538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&lt;h2&gt;Choose a trail&lt;/h2&gt;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8E51EA-B51F-4415-B347-B837C049FEA4}"/>
              </a:ext>
            </a:extLst>
          </p:cNvPr>
          <p:cNvSpPr>
            <a:spLocks noGrp="1"/>
          </p:cNvSpPr>
          <p:nvPr/>
        </p:nvSpPr>
        <p:spPr>
          <a:xfrm>
            <a:off x="952500" y="3181350"/>
            <a:ext cx="538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&lt;p&gt;Bring water, a map, and layers.&lt;/p&gt;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4328E7C-ACB7-4AB8-9E7F-15BB8C5BE9DC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3381375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00EDB9-C15D-4D1C-887B-014E129D6FCA}"/>
              </a:ext>
            </a:extLst>
          </p:cNvPr>
          <p:cNvSpPr>
            <a:spLocks noGrp="1"/>
          </p:cNvSpPr>
          <p:nvPr/>
        </p:nvSpPr>
        <p:spPr>
          <a:xfrm>
            <a:off x="7810500" y="2419350"/>
            <a:ext cx="2714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940" lnSpcReduction="10000"/>
          </a:bodyPr>
          <a:lstStyle/>
          <a:p>
            <a:pPr algn="l">
              <a:defRPr sz="2100" b="1">
                <a:solidFill>
                  <a:srgbClr val="18233A"/>
                </a:solidFill>
              </a:defRPr>
            </a:pPr>
            <a:r>
              <a:rPr sz="2100" b="1">
                <a:solidFill>
                  <a:srgbClr val="18233A"/>
                </a:solidFill>
              </a:rPr>
              <a:t>Weekend hiking</a:t>
            </a:r>
          </a:p>
          <a:p>
            <a:pPr algn="l">
              <a:defRPr sz="2100" b="1">
                <a:solidFill>
                  <a:srgbClr val="18233A"/>
                </a:solidFill>
              </a:defRPr>
            </a:pPr>
            <a:r>
              <a:rPr sz="2100" b="1">
                <a:solidFill>
                  <a:srgbClr val="18233A"/>
                </a:solidFill>
              </a:rPr>
              <a:t>guide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8D4781-71BE-4D03-A7B0-817920CD4CF0}"/>
              </a:ext>
            </a:extLst>
          </p:cNvPr>
          <p:cNvSpPr>
            <a:spLocks noGrp="1"/>
          </p:cNvSpPr>
          <p:nvPr/>
        </p:nvSpPr>
        <p:spPr>
          <a:xfrm>
            <a:off x="7810500" y="326707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52" lnSpcReduction="10000"/>
          </a:bodyPr>
          <a:lstStyle/>
          <a:p>
            <a:pPr algn="l">
              <a:defRPr sz="1575" b="1">
                <a:solidFill>
                  <a:srgbClr val="316BFF"/>
                </a:solidFill>
              </a:defRPr>
            </a:pPr>
            <a:r>
              <a:rPr sz="1575" b="1">
                <a:solidFill>
                  <a:srgbClr val="316BFF"/>
                </a:solidFill>
              </a:rPr>
              <a:t>Choose a trail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968A15-E98D-42B4-A243-022B3CFAD314}"/>
              </a:ext>
            </a:extLst>
          </p:cNvPr>
          <p:cNvSpPr>
            <a:spLocks noGrp="1"/>
          </p:cNvSpPr>
          <p:nvPr/>
        </p:nvSpPr>
        <p:spPr>
          <a:xfrm>
            <a:off x="7810500" y="3800475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1711" lnSpcReduction="10000"/>
          </a:bodyPr>
          <a:lstStyle/>
          <a:p>
            <a:pPr algn="l">
              <a:defRPr sz="1425" b="0">
                <a:solidFill>
                  <a:srgbClr val="526077"/>
                </a:solidFill>
              </a:defRPr>
            </a:pPr>
            <a:r>
              <a:rPr sz="1425" b="0">
                <a:solidFill>
                  <a:srgbClr val="526077"/>
                </a:solidFill>
              </a:rPr>
              <a:t>Bring water, a map,</a:t>
            </a:r>
          </a:p>
          <a:p>
            <a:pPr algn="l">
              <a:defRPr sz="1425" b="0">
                <a:solidFill>
                  <a:srgbClr val="526077"/>
                </a:solidFill>
              </a:defRPr>
            </a:pPr>
            <a:r>
              <a:rPr sz="1425" b="0">
                <a:solidFill>
                  <a:srgbClr val="526077"/>
                </a:solidFill>
              </a:rPr>
              <a:t>and layers.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18EAD54-14E5-4D9D-A86B-4BFEC413E5CB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0239375" cy="666750"/>
          </a:xfrm>
          <a:prstGeom prst="roundRect">
            <a:avLst>
              <a:gd name="adj" fmla="val 11429"/>
            </a:avLst>
          </a:prstGeom>
          <a:solidFill>
            <a:srgbClr val="EEE9FF"/>
          </a:solidFill>
          <a:ln w="0">
            <a:solidFill>
              <a:srgbClr val="EEE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F1A333-D8FD-4CFF-B33D-7CB7916877C7}"/>
              </a:ext>
            </a:extLst>
          </p:cNvPr>
          <p:cNvSpPr>
            <a:spLocks noGrp="1"/>
          </p:cNvSpPr>
          <p:nvPr/>
        </p:nvSpPr>
        <p:spPr>
          <a:xfrm>
            <a:off x="895350" y="5343525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516" lnSpcReduction="20000"/>
          </a:bodyPr>
          <a:lstStyle/>
          <a:p>
            <a:pPr algn="l">
              <a:defRPr sz="1575" b="1">
                <a:solidFill>
                  <a:srgbClr val="18233A"/>
                </a:solidFill>
              </a:defRPr>
            </a:pPr>
            <a:r>
              <a:rPr sz="1575" b="1">
                <a:solidFill>
                  <a:srgbClr val="18233A"/>
                </a:solidFill>
              </a:rPr>
              <a:t>Use one &lt;h1&gt; for the main topic. Use &lt;h2&gt;–&lt;h6&gt; to make the page hierarchy logical.</a:t>
            </a:r>
          </a:p>
        </p:txBody>
      </p:sp>
    </p:spTree>
    <p:extLst>
      <p:ext uri="{BB962C8B-B14F-4D97-AF65-F5344CB8AC3E}">
        <p14:creationId xmlns:p14="http://schemas.microsoft.com/office/powerpoint/2010/main" val="1781875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64B7C0C-73CE-4DD7-BC88-FD80A2F6D7B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l">
              <a:defRPr sz="975" b="1">
                <a:solidFill>
                  <a:srgbClr val="316BFF"/>
                </a:solidFill>
              </a:defRPr>
            </a:pPr>
            <a:r>
              <a:rPr sz="975" b="1">
                <a:solidFill>
                  <a:srgbClr val="316BFF"/>
                </a:solidFill>
              </a:rPr>
              <a:t>ATTRIBUTES ADD USEFUL DETAILS TO AN OPENING TAG.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A01C4C-8115-4085-8B97-419ABEF25D1B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561"/>
          </a:bodyPr>
          <a:lstStyle/>
          <a:p>
            <a:pPr algn="l">
              <a:defRPr sz="2850" b="1">
                <a:solidFill>
                  <a:srgbClr val="18233A"/>
                </a:solidFill>
              </a:defRPr>
            </a:pPr>
            <a:r>
              <a:rPr sz="2850" b="1">
                <a:solidFill>
                  <a:srgbClr val="18233A"/>
                </a:solidFill>
              </a:rPr>
              <a:t>Add information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2CD323-249E-4EE5-B99C-D6E9A4DBA959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0A8A20-45EF-4FBF-ABF5-AA804A8548F9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HTML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B76D2-4C26-4702-84C3-BD3FD044DB1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07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A77849-8158-4415-B87A-4F4C6D410DDF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0572750" cy="142875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229112-BAB2-42CC-93EA-B649637B093B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04775" cy="104775"/>
          </a:xfrm>
          <a:prstGeom prst="ellipse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A82227A-09E1-452F-8BCE-6D5DDBE3EB37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104775" cy="104775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18F0B7-6A5B-434B-90F6-4A252E6A393D}"/>
              </a:ext>
            </a:extLst>
          </p:cNvPr>
          <p:cNvSpPr>
            <a:spLocks noGrp="1"/>
          </p:cNvSpPr>
          <p:nvPr/>
        </p:nvSpPr>
        <p:spPr>
          <a:xfrm>
            <a:off x="1257300" y="2266950"/>
            <a:ext cx="104775" cy="104775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E6F7AB-2624-4847-84AD-3499E5F091C0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1004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&lt;a href="https://example.com"&gt;Visit the site&lt;/a&gt;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7D32EE-513E-4D52-B9C9-8D20B5BC19AF}"/>
              </a:ext>
            </a:extLst>
          </p:cNvPr>
          <p:cNvSpPr>
            <a:spLocks noGrp="1"/>
          </p:cNvSpPr>
          <p:nvPr/>
        </p:nvSpPr>
        <p:spPr>
          <a:xfrm>
            <a:off x="952500" y="2905125"/>
            <a:ext cx="1004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&lt;img src="trail.jpg" alt="Hikers on a forest trail"&gt;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F65AFA0-F860-45FC-9CA2-01E2B9EF6549}"/>
              </a:ext>
            </a:extLst>
          </p:cNvPr>
          <p:cNvSpPr>
            <a:spLocks noGrp="1"/>
          </p:cNvSpPr>
          <p:nvPr/>
        </p:nvSpPr>
        <p:spPr>
          <a:xfrm>
            <a:off x="666750" y="41910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0967EE-D509-43AD-ACCD-A3030181CC47}"/>
              </a:ext>
            </a:extLst>
          </p:cNvPr>
          <p:cNvSpPr>
            <a:spLocks noGrp="1"/>
          </p:cNvSpPr>
          <p:nvPr/>
        </p:nvSpPr>
        <p:spPr>
          <a:xfrm>
            <a:off x="876300" y="4410075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920" lnSpcReduction="20000"/>
          </a:bodyPr>
          <a:lstStyle/>
          <a:p>
            <a:pPr algn="l">
              <a:defRPr sz="1725" b="1">
                <a:solidFill>
                  <a:srgbClr val="316BFF"/>
                </a:solidFill>
              </a:defRPr>
            </a:pPr>
            <a:r>
              <a:rPr sz="1725" b="1">
                <a:solidFill>
                  <a:srgbClr val="316BFF"/>
                </a:solidFill>
              </a:rPr>
              <a:t>href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2054BB-586A-4072-9F1C-9D071958ACF2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252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0">
                <a:solidFill>
                  <a:srgbClr val="526077"/>
                </a:solidFill>
              </a:defRPr>
            </a:pPr>
            <a:r>
              <a:rPr sz="1350" b="0">
                <a:solidFill>
                  <a:srgbClr val="526077"/>
                </a:solidFill>
              </a:rPr>
              <a:t>where the link goes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A57776B-092D-4AF8-8E60-4E791F71B336}"/>
              </a:ext>
            </a:extLst>
          </p:cNvPr>
          <p:cNvSpPr>
            <a:spLocks noGrp="1"/>
          </p:cNvSpPr>
          <p:nvPr/>
        </p:nvSpPr>
        <p:spPr>
          <a:xfrm>
            <a:off x="4286250" y="41910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5C7C04-8D3C-43A9-B325-2FFBB341D4ED}"/>
              </a:ext>
            </a:extLst>
          </p:cNvPr>
          <p:cNvSpPr>
            <a:spLocks noGrp="1"/>
          </p:cNvSpPr>
          <p:nvPr/>
        </p:nvSpPr>
        <p:spPr>
          <a:xfrm>
            <a:off x="4495800" y="4410075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920" lnSpcReduction="20000"/>
          </a:bodyPr>
          <a:lstStyle/>
          <a:p>
            <a:pPr algn="l">
              <a:defRPr sz="1725" b="1">
                <a:solidFill>
                  <a:srgbClr val="35D0BA"/>
                </a:solidFill>
              </a:defRPr>
            </a:pPr>
            <a:r>
              <a:rPr sz="1725" b="1">
                <a:solidFill>
                  <a:srgbClr val="35D0BA"/>
                </a:solidFill>
              </a:rPr>
              <a:t>src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4D31A-C854-4A65-A9C9-C7BE24F4CFD2}"/>
              </a:ext>
            </a:extLst>
          </p:cNvPr>
          <p:cNvSpPr>
            <a:spLocks noGrp="1"/>
          </p:cNvSpPr>
          <p:nvPr/>
        </p:nvSpPr>
        <p:spPr>
          <a:xfrm>
            <a:off x="4495800" y="4857750"/>
            <a:ext cx="252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0">
                <a:solidFill>
                  <a:srgbClr val="526077"/>
                </a:solidFill>
              </a:defRPr>
            </a:pPr>
            <a:r>
              <a:rPr sz="1350" b="0">
                <a:solidFill>
                  <a:srgbClr val="526077"/>
                </a:solidFill>
              </a:rPr>
              <a:t>where the image comes from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1FEFA2F-4D37-4DAD-88C4-1C9EB304E30F}"/>
              </a:ext>
            </a:extLst>
          </p:cNvPr>
          <p:cNvSpPr>
            <a:spLocks noGrp="1"/>
          </p:cNvSpPr>
          <p:nvPr/>
        </p:nvSpPr>
        <p:spPr>
          <a:xfrm>
            <a:off x="7905750" y="41910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F1F98A-D287-464D-923A-C4B8F3644205}"/>
              </a:ext>
            </a:extLst>
          </p:cNvPr>
          <p:cNvSpPr>
            <a:spLocks noGrp="1"/>
          </p:cNvSpPr>
          <p:nvPr/>
        </p:nvSpPr>
        <p:spPr>
          <a:xfrm>
            <a:off x="8115300" y="4410075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6920" lnSpcReduction="20000"/>
          </a:bodyPr>
          <a:lstStyle/>
          <a:p>
            <a:pPr algn="l">
              <a:defRPr sz="1725" b="1">
                <a:solidFill>
                  <a:srgbClr val="FF6B5E"/>
                </a:solidFill>
              </a:defRPr>
            </a:pPr>
            <a:r>
              <a:rPr sz="1725" b="1">
                <a:solidFill>
                  <a:srgbClr val="FF6B5E"/>
                </a:solidFill>
              </a:rPr>
              <a:t>alt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70F55E-8E29-4D11-8BE4-333A9E01B3C3}"/>
              </a:ext>
            </a:extLst>
          </p:cNvPr>
          <p:cNvSpPr>
            <a:spLocks noGrp="1"/>
          </p:cNvSpPr>
          <p:nvPr/>
        </p:nvSpPr>
        <p:spPr>
          <a:xfrm>
            <a:off x="8115300" y="4857750"/>
            <a:ext cx="252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defRPr sz="1350" b="0">
                <a:solidFill>
                  <a:srgbClr val="526077"/>
                </a:solidFill>
              </a:defRPr>
            </a:pPr>
            <a:r>
              <a:rPr sz="1350" b="0">
                <a:solidFill>
                  <a:srgbClr val="526077"/>
                </a:solidFill>
              </a:rPr>
              <a:t>what the image means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B61CED-D1F4-47F1-BC4A-00D1FE688D7B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2579" lnSpcReduction="20000"/>
          </a:bodyPr>
          <a:lstStyle/>
          <a:p>
            <a:pPr algn="l"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Pattern:  name="value"</a:t>
            </a:r>
          </a:p>
        </p:txBody>
      </p:sp>
    </p:spTree>
    <p:extLst>
      <p:ext uri="{BB962C8B-B14F-4D97-AF65-F5344CB8AC3E}">
        <p14:creationId xmlns:p14="http://schemas.microsoft.com/office/powerpoint/2010/main" val="1678874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507FF0-B65F-4FF2-8B3D-D073B4D43F9D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l">
              <a:defRPr sz="975" b="1">
                <a:solidFill>
                  <a:srgbClr val="316BFF"/>
                </a:solidFill>
              </a:defRPr>
            </a:pPr>
            <a:r>
              <a:rPr sz="975" b="1">
                <a:solidFill>
                  <a:srgbClr val="316BFF"/>
                </a:solidFill>
              </a:rPr>
              <a:t>CORE ELEMENTS MAKE CONTENT USEFUL.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9D523C-4F35-4C93-97C3-379F090893B7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561"/>
          </a:bodyPr>
          <a:lstStyle/>
          <a:p>
            <a:pPr algn="l">
              <a:defRPr sz="2850" b="1">
                <a:solidFill>
                  <a:srgbClr val="18233A"/>
                </a:solidFill>
              </a:defRPr>
            </a:pPr>
            <a:r>
              <a:rPr sz="2850" b="1">
                <a:solidFill>
                  <a:srgbClr val="18233A"/>
                </a:solidFill>
              </a:rPr>
              <a:t>Building blocks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5679FB-63F2-4013-8EF3-B46E5FE85931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7E1D14-35BE-495A-87EE-3CD0CD2A050B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HTML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4CA39-8D76-4697-9F9C-91AB0DA24DD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08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2C4142A-7DD5-4B10-9E09-9D406686AF34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3143250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E7F4E6-5EDB-425B-AEEA-8A32B3D6E0DE}"/>
              </a:ext>
            </a:extLst>
          </p:cNvPr>
          <p:cNvSpPr>
            <a:spLocks noGrp="1"/>
          </p:cNvSpPr>
          <p:nvPr/>
        </p:nvSpPr>
        <p:spPr>
          <a:xfrm>
            <a:off x="904875" y="24288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463" lnSpcReduction="20000"/>
          </a:bodyPr>
          <a:lstStyle/>
          <a:p>
            <a:pPr algn="l">
              <a:defRPr sz="2025" b="1">
                <a:solidFill>
                  <a:srgbClr val="18233A"/>
                </a:solidFill>
              </a:defRPr>
            </a:pPr>
            <a:r>
              <a:rPr sz="2025" b="1">
                <a:solidFill>
                  <a:srgbClr val="18233A"/>
                </a:solidFill>
              </a:rPr>
              <a:t>Links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34ADD4-574B-44A4-A636-3802F0480B5E}"/>
              </a:ext>
            </a:extLst>
          </p:cNvPr>
          <p:cNvSpPr>
            <a:spLocks noGrp="1"/>
          </p:cNvSpPr>
          <p:nvPr/>
        </p:nvSpPr>
        <p:spPr>
          <a:xfrm>
            <a:off x="904875" y="30099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21" lnSpcReduction="20000"/>
          </a:bodyPr>
          <a:lstStyle/>
          <a:p>
            <a:pPr algn="l">
              <a:defRPr sz="1650" b="1">
                <a:solidFill>
                  <a:srgbClr val="316BFF"/>
                </a:solidFill>
              </a:defRPr>
            </a:pPr>
            <a:r>
              <a:rPr sz="1650" b="1">
                <a:solidFill>
                  <a:srgbClr val="316BFF"/>
                </a:solidFill>
              </a:rPr>
              <a:t>&lt;a&gt;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9D91E0-99B0-4810-B933-22A3E4E2F358}"/>
              </a:ext>
            </a:extLst>
          </p:cNvPr>
          <p:cNvSpPr>
            <a:spLocks noGrp="1"/>
          </p:cNvSpPr>
          <p:nvPr/>
        </p:nvSpPr>
        <p:spPr>
          <a:xfrm>
            <a:off x="904875" y="3657600"/>
            <a:ext cx="24288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667" lnSpcReduction="10000"/>
          </a:bodyPr>
          <a:lstStyle/>
          <a:p>
            <a:pPr algn="l">
              <a:defRPr sz="1500" b="0">
                <a:solidFill>
                  <a:srgbClr val="526077"/>
                </a:solidFill>
              </a:defRPr>
            </a:pPr>
            <a:r>
              <a:rPr sz="1500" b="0">
                <a:solidFill>
                  <a:srgbClr val="526077"/>
                </a:solidFill>
              </a:rPr>
              <a:t>Move readers to another place.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2C42B47-5691-44D2-BCC5-08CE65FD3EFE}"/>
              </a:ext>
            </a:extLst>
          </p:cNvPr>
          <p:cNvSpPr>
            <a:spLocks noGrp="1"/>
          </p:cNvSpPr>
          <p:nvPr/>
        </p:nvSpPr>
        <p:spPr>
          <a:xfrm>
            <a:off x="4286250" y="2143125"/>
            <a:ext cx="3143250" cy="2619375"/>
          </a:xfrm>
          <a:prstGeom prst="roundRect">
            <a:avLst>
              <a:gd name="adj" fmla="val 2909"/>
            </a:avLst>
          </a:prstGeom>
          <a:solidFill>
            <a:srgbClr val="E8F1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B760E7-BCF4-4C2F-BCCD-F96A2681CDF9}"/>
              </a:ext>
            </a:extLst>
          </p:cNvPr>
          <p:cNvSpPr>
            <a:spLocks noGrp="1"/>
          </p:cNvSpPr>
          <p:nvPr/>
        </p:nvSpPr>
        <p:spPr>
          <a:xfrm>
            <a:off x="4524375" y="24288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463" lnSpcReduction="20000"/>
          </a:bodyPr>
          <a:lstStyle/>
          <a:p>
            <a:pPr algn="l">
              <a:defRPr sz="2025" b="1">
                <a:solidFill>
                  <a:srgbClr val="18233A"/>
                </a:solidFill>
              </a:defRPr>
            </a:pPr>
            <a:r>
              <a:rPr sz="2025" b="1">
                <a:solidFill>
                  <a:srgbClr val="18233A"/>
                </a:solidFill>
              </a:rPr>
              <a:t>Images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420BB2-169B-41F8-9596-E19D9AE1B03E}"/>
              </a:ext>
            </a:extLst>
          </p:cNvPr>
          <p:cNvSpPr>
            <a:spLocks noGrp="1"/>
          </p:cNvSpPr>
          <p:nvPr/>
        </p:nvSpPr>
        <p:spPr>
          <a:xfrm>
            <a:off x="4524375" y="30099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21" lnSpcReduction="20000"/>
          </a:bodyPr>
          <a:lstStyle/>
          <a:p>
            <a:pPr algn="l">
              <a:defRPr sz="1650" b="1">
                <a:solidFill>
                  <a:srgbClr val="35D0BA"/>
                </a:solidFill>
              </a:defRPr>
            </a:pPr>
            <a:r>
              <a:rPr sz="1650" b="1">
                <a:solidFill>
                  <a:srgbClr val="35D0BA"/>
                </a:solidFill>
              </a:rPr>
              <a:t>&lt;img&gt;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DAA1D5-D63C-4848-ACFE-06AA7B7214C4}"/>
              </a:ext>
            </a:extLst>
          </p:cNvPr>
          <p:cNvSpPr>
            <a:spLocks noGrp="1"/>
          </p:cNvSpPr>
          <p:nvPr/>
        </p:nvSpPr>
        <p:spPr>
          <a:xfrm>
            <a:off x="4524375" y="3657600"/>
            <a:ext cx="24288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667" lnSpcReduction="10000"/>
          </a:bodyPr>
          <a:lstStyle/>
          <a:p>
            <a:pPr algn="l">
              <a:defRPr sz="1500" b="0">
                <a:solidFill>
                  <a:srgbClr val="526077"/>
                </a:solidFill>
              </a:defRPr>
            </a:pPr>
            <a:r>
              <a:rPr sz="1500" b="0">
                <a:solidFill>
                  <a:srgbClr val="526077"/>
                </a:solidFill>
              </a:rPr>
              <a:t>Add a visual with useful alt text.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E6EE18B-2BCE-4529-B846-B8DF9B17A779}"/>
              </a:ext>
            </a:extLst>
          </p:cNvPr>
          <p:cNvSpPr>
            <a:spLocks noGrp="1"/>
          </p:cNvSpPr>
          <p:nvPr/>
        </p:nvSpPr>
        <p:spPr>
          <a:xfrm>
            <a:off x="7905750" y="2143125"/>
            <a:ext cx="3143250" cy="2619375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AB3AF-0E1A-45F2-AA4B-6A4D4C10CF9E}"/>
              </a:ext>
            </a:extLst>
          </p:cNvPr>
          <p:cNvSpPr>
            <a:spLocks noGrp="1"/>
          </p:cNvSpPr>
          <p:nvPr/>
        </p:nvSpPr>
        <p:spPr>
          <a:xfrm>
            <a:off x="8143875" y="24288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0463" lnSpcReduction="20000"/>
          </a:bodyPr>
          <a:lstStyle/>
          <a:p>
            <a:pPr algn="l">
              <a:defRPr sz="2025" b="1">
                <a:solidFill>
                  <a:srgbClr val="18233A"/>
                </a:solidFill>
              </a:defRPr>
            </a:pPr>
            <a:r>
              <a:rPr sz="2025" b="1">
                <a:solidFill>
                  <a:srgbClr val="18233A"/>
                </a:solidFill>
              </a:rPr>
              <a:t>Lists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64E282-D225-49FD-A368-7EF6974E7A92}"/>
              </a:ext>
            </a:extLst>
          </p:cNvPr>
          <p:cNvSpPr>
            <a:spLocks noGrp="1"/>
          </p:cNvSpPr>
          <p:nvPr/>
        </p:nvSpPr>
        <p:spPr>
          <a:xfrm>
            <a:off x="8143875" y="30099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9621" lnSpcReduction="20000"/>
          </a:bodyPr>
          <a:lstStyle/>
          <a:p>
            <a:pPr algn="l">
              <a:defRPr sz="1650" b="1">
                <a:solidFill>
                  <a:srgbClr val="316BFF"/>
                </a:solidFill>
              </a:defRPr>
            </a:pPr>
            <a:r>
              <a:rPr sz="1650" b="1">
                <a:solidFill>
                  <a:srgbClr val="316BFF"/>
                </a:solidFill>
              </a:rPr>
              <a:t>&lt;ul&gt; / &lt;ol&gt;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8159D8-A6A5-4F8A-9C7F-4350162AA843}"/>
              </a:ext>
            </a:extLst>
          </p:cNvPr>
          <p:cNvSpPr>
            <a:spLocks noGrp="1"/>
          </p:cNvSpPr>
          <p:nvPr/>
        </p:nvSpPr>
        <p:spPr>
          <a:xfrm>
            <a:off x="8143875" y="3657600"/>
            <a:ext cx="24288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6667" lnSpcReduction="10000"/>
          </a:bodyPr>
          <a:lstStyle/>
          <a:p>
            <a:pPr algn="l">
              <a:defRPr sz="1500" b="0">
                <a:solidFill>
                  <a:srgbClr val="526077"/>
                </a:solidFill>
              </a:defRPr>
            </a:pPr>
            <a:r>
              <a:rPr sz="1500" b="0">
                <a:solidFill>
                  <a:srgbClr val="526077"/>
                </a:solidFill>
              </a:rPr>
              <a:t>Group related ideas or ordered steps.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2E40A3-3BF7-499D-BE87-74E1B53A7227}"/>
              </a:ext>
            </a:extLst>
          </p:cNvPr>
          <p:cNvSpPr>
            <a:spLocks noGrp="1"/>
          </p:cNvSpPr>
          <p:nvPr/>
        </p:nvSpPr>
        <p:spPr>
          <a:xfrm>
            <a:off x="666750" y="533400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833" lnSpcReduction="20000"/>
          </a:bodyPr>
          <a:lstStyle/>
          <a:p>
            <a:pPr algn="l">
              <a:defRPr sz="1800" b="1">
                <a:solidFill>
                  <a:srgbClr val="18233A"/>
                </a:solidFill>
              </a:defRPr>
            </a:pPr>
            <a:r>
              <a:rPr sz="1800" b="1">
                <a:solidFill>
                  <a:srgbClr val="18233A"/>
                </a:solidFill>
              </a:rPr>
              <a:t>Quick check: Which element would you choose for a three-step recipe?</a:t>
            </a:r>
          </a:p>
        </p:txBody>
      </p:sp>
    </p:spTree>
    <p:extLst>
      <p:ext uri="{BB962C8B-B14F-4D97-AF65-F5344CB8AC3E}">
        <p14:creationId xmlns:p14="http://schemas.microsoft.com/office/powerpoint/2010/main" val="1334852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A7B21F3-CB03-4911-A4D9-07D3CC1175B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l">
              <a:defRPr sz="975" b="1">
                <a:solidFill>
                  <a:srgbClr val="316BFF"/>
                </a:solidFill>
              </a:defRPr>
            </a:pPr>
            <a:r>
              <a:rPr sz="975" b="1">
                <a:solidFill>
                  <a:srgbClr val="316BFF"/>
                </a:solidFill>
              </a:rPr>
              <a:t>SEMANTIC ELEMENTS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0A07B2-F951-4CF3-B329-2B1DEBBFA8B3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561"/>
          </a:bodyPr>
          <a:lstStyle/>
          <a:p>
            <a:pPr algn="l">
              <a:defRPr sz="2850" b="1">
                <a:solidFill>
                  <a:srgbClr val="18233A"/>
                </a:solidFill>
              </a:defRPr>
            </a:pPr>
            <a:r>
              <a:rPr lang="en-US" sz="2850" b="1" dirty="0">
                <a:solidFill>
                  <a:srgbClr val="18233A"/>
                </a:solidFill>
              </a:rPr>
              <a:t>Semantic</a:t>
            </a:r>
            <a:r>
              <a:rPr sz="2850" b="1" dirty="0">
                <a:solidFill>
                  <a:srgbClr val="18233A"/>
                </a:solidFill>
              </a:rPr>
              <a:t> HTML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298F9D-3E5F-4F52-8A88-F51FB1D69206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2DFD78-7B7F-4941-B3C1-5E77F43AB8AD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HTML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FE937-055D-4C5E-BD79-E5909F9EA3B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672E74-3D14-4768-9A0A-E4FA042A117A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167" lnSpcReduction="20000"/>
          </a:bodyPr>
          <a:lstStyle/>
          <a:p>
            <a:pPr>
              <a:defRPr sz="1500" b="0">
                <a:solidFill>
                  <a:srgbClr val="526077"/>
                </a:solidFill>
              </a:defRPr>
            </a:pPr>
            <a:r>
              <a:rPr lang="en-US" sz="1500" dirty="0">
                <a:solidFill>
                  <a:srgbClr val="526077"/>
                </a:solidFill>
              </a:rPr>
              <a:t>Tags that tell the browser what each section does, not just &lt;div&gt; everywhere</a:t>
            </a:r>
            <a:endParaRPr sz="1500" b="0" dirty="0">
              <a:solidFill>
                <a:srgbClr val="526077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51DB09-A488-484D-BBD4-2B1E3B144533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6667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FBA711-0FEB-4FFB-9A45-9061FBD9912F}"/>
              </a:ext>
            </a:extLst>
          </p:cNvPr>
          <p:cNvSpPr>
            <a:spLocks noGrp="1"/>
          </p:cNvSpPr>
          <p:nvPr/>
        </p:nvSpPr>
        <p:spPr>
          <a:xfrm>
            <a:off x="857250" y="21526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5648" lnSpcReduction="20000"/>
          </a:bodyPr>
          <a:lstStyle/>
          <a:p>
            <a:pPr algn="l">
              <a:defRPr sz="1350" b="1">
                <a:solidFill>
                  <a:srgbClr val="18233A"/>
                </a:solidFill>
              </a:defRPr>
            </a:pPr>
            <a:r>
              <a:rPr sz="1350" b="1">
                <a:solidFill>
                  <a:srgbClr val="18233A"/>
                </a:solidFill>
              </a:rPr>
              <a:t>&lt;header&gt;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F3D6FE-D7B9-4151-96E5-EBEDF6FC86BD}"/>
              </a:ext>
            </a:extLst>
          </p:cNvPr>
          <p:cNvSpPr>
            <a:spLocks noGrp="1"/>
          </p:cNvSpPr>
          <p:nvPr/>
        </p:nvSpPr>
        <p:spPr>
          <a:xfrm>
            <a:off x="2381250" y="21526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5980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intro / identity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6A40BD4-95B8-44D1-8E55-6C23F4E8E6B8}"/>
              </a:ext>
            </a:extLst>
          </p:cNvPr>
          <p:cNvSpPr>
            <a:spLocks noGrp="1"/>
          </p:cNvSpPr>
          <p:nvPr/>
        </p:nvSpPr>
        <p:spPr>
          <a:xfrm>
            <a:off x="666750" y="2676525"/>
            <a:ext cx="5619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B4A56C-1033-4529-ACCB-6E0A9F1DD606}"/>
              </a:ext>
            </a:extLst>
          </p:cNvPr>
          <p:cNvSpPr>
            <a:spLocks noGrp="1"/>
          </p:cNvSpPr>
          <p:nvPr/>
        </p:nvSpPr>
        <p:spPr>
          <a:xfrm>
            <a:off x="857250" y="279082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5648" lnSpcReduction="20000"/>
          </a:bodyPr>
          <a:lstStyle/>
          <a:p>
            <a:pPr algn="l">
              <a:defRPr sz="1350" b="1">
                <a:solidFill>
                  <a:srgbClr val="18233A"/>
                </a:solidFill>
              </a:defRPr>
            </a:pPr>
            <a:r>
              <a:rPr sz="1350" b="1">
                <a:solidFill>
                  <a:srgbClr val="18233A"/>
                </a:solidFill>
              </a:rPr>
              <a:t>&lt;nav&gt;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38EAC5-F1C0-4E99-A02D-D4C01DA43A03}"/>
              </a:ext>
            </a:extLst>
          </p:cNvPr>
          <p:cNvSpPr>
            <a:spLocks noGrp="1"/>
          </p:cNvSpPr>
          <p:nvPr/>
        </p:nvSpPr>
        <p:spPr>
          <a:xfrm>
            <a:off x="2381250" y="27908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5980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navigation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478FC7B-8139-4C56-8BD5-7A3F03F623C8}"/>
              </a:ext>
            </a:extLst>
          </p:cNvPr>
          <p:cNvSpPr>
            <a:spLocks noGrp="1"/>
          </p:cNvSpPr>
          <p:nvPr/>
        </p:nvSpPr>
        <p:spPr>
          <a:xfrm>
            <a:off x="666750" y="3314700"/>
            <a:ext cx="6667500" cy="438150"/>
          </a:xfrm>
          <a:prstGeom prst="roundRect">
            <a:avLst>
              <a:gd name="adj" fmla="val 17391"/>
            </a:avLst>
          </a:prstGeom>
          <a:solidFill>
            <a:srgbClr val="E8F1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9D75BB-9A53-406E-9563-700E53F01027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5648" lnSpcReduction="20000"/>
          </a:bodyPr>
          <a:lstStyle/>
          <a:p>
            <a:pPr algn="l">
              <a:defRPr sz="1350" b="1">
                <a:solidFill>
                  <a:srgbClr val="316BFF"/>
                </a:solidFill>
              </a:defRPr>
            </a:pPr>
            <a:r>
              <a:rPr sz="1350" b="1">
                <a:solidFill>
                  <a:srgbClr val="316BFF"/>
                </a:solidFill>
              </a:rPr>
              <a:t>&lt;main&gt;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4AC31B-AB01-4471-8FFA-369180302B9B}"/>
              </a:ext>
            </a:extLst>
          </p:cNvPr>
          <p:cNvSpPr>
            <a:spLocks noGrp="1"/>
          </p:cNvSpPr>
          <p:nvPr/>
        </p:nvSpPr>
        <p:spPr>
          <a:xfrm>
            <a:off x="2381250" y="342900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5980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the page’s main content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D882B7F-D51F-40AB-B8A6-EAF4D1B1C5EF}"/>
              </a:ext>
            </a:extLst>
          </p:cNvPr>
          <p:cNvSpPr>
            <a:spLocks noGrp="1"/>
          </p:cNvSpPr>
          <p:nvPr/>
        </p:nvSpPr>
        <p:spPr>
          <a:xfrm>
            <a:off x="666750" y="3952875"/>
            <a:ext cx="5619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45B799-58F3-4666-B5EA-0C4A9C5FEB36}"/>
              </a:ext>
            </a:extLst>
          </p:cNvPr>
          <p:cNvSpPr>
            <a:spLocks noGrp="1"/>
          </p:cNvSpPr>
          <p:nvPr/>
        </p:nvSpPr>
        <p:spPr>
          <a:xfrm>
            <a:off x="857250" y="4067175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5648" lnSpcReduction="20000"/>
          </a:bodyPr>
          <a:lstStyle/>
          <a:p>
            <a:pPr algn="l">
              <a:defRPr sz="1350" b="1">
                <a:solidFill>
                  <a:srgbClr val="18233A"/>
                </a:solidFill>
              </a:defRPr>
            </a:pPr>
            <a:r>
              <a:rPr sz="1350" b="1">
                <a:solidFill>
                  <a:srgbClr val="18233A"/>
                </a:solidFill>
              </a:rPr>
              <a:t>&lt;article&gt;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3133BD-0F30-4DDE-B3A5-CD6A3FFD4FE4}"/>
              </a:ext>
            </a:extLst>
          </p:cNvPr>
          <p:cNvSpPr>
            <a:spLocks noGrp="1"/>
          </p:cNvSpPr>
          <p:nvPr/>
        </p:nvSpPr>
        <p:spPr>
          <a:xfrm>
            <a:off x="2381250" y="406717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5980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a self-contained story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B6C9012-037D-47AC-A2FE-680ACE08C190}"/>
              </a:ext>
            </a:extLst>
          </p:cNvPr>
          <p:cNvSpPr>
            <a:spLocks noGrp="1"/>
          </p:cNvSpPr>
          <p:nvPr/>
        </p:nvSpPr>
        <p:spPr>
          <a:xfrm>
            <a:off x="666750" y="4591050"/>
            <a:ext cx="6667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08482A-3044-40ED-BFE2-EA44CB38F513}"/>
              </a:ext>
            </a:extLst>
          </p:cNvPr>
          <p:cNvSpPr>
            <a:spLocks noGrp="1"/>
          </p:cNvSpPr>
          <p:nvPr/>
        </p:nvSpPr>
        <p:spPr>
          <a:xfrm>
            <a:off x="857250" y="470535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5648" lnSpcReduction="20000"/>
          </a:bodyPr>
          <a:lstStyle/>
          <a:p>
            <a:pPr algn="l">
              <a:defRPr sz="1350" b="1">
                <a:solidFill>
                  <a:srgbClr val="18233A"/>
                </a:solidFill>
              </a:defRPr>
            </a:pPr>
            <a:r>
              <a:rPr sz="1350" b="1">
                <a:solidFill>
                  <a:srgbClr val="18233A"/>
                </a:solidFill>
              </a:rPr>
              <a:t>&lt;footer&gt;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84B489-904B-4EDF-BE67-730FFB4264F2}"/>
              </a:ext>
            </a:extLst>
          </p:cNvPr>
          <p:cNvSpPr>
            <a:spLocks noGrp="1"/>
          </p:cNvSpPr>
          <p:nvPr/>
        </p:nvSpPr>
        <p:spPr>
          <a:xfrm>
            <a:off x="2381250" y="47053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5980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closing information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2B5A34D-250E-42D6-A6BA-33131DEC5A11}"/>
              </a:ext>
            </a:extLst>
          </p:cNvPr>
          <p:cNvSpPr>
            <a:spLocks noGrp="1"/>
          </p:cNvSpPr>
          <p:nvPr/>
        </p:nvSpPr>
        <p:spPr>
          <a:xfrm>
            <a:off x="8048625" y="2857500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1D8A23-E0F3-47AB-8C12-C9788C58D6F7}"/>
              </a:ext>
            </a:extLst>
          </p:cNvPr>
          <p:cNvSpPr>
            <a:spLocks noGrp="1"/>
          </p:cNvSpPr>
          <p:nvPr/>
        </p:nvSpPr>
        <p:spPr>
          <a:xfrm>
            <a:off x="8334375" y="3209925"/>
            <a:ext cx="2333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31"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Meaningful structure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helps browsers and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assistive technology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understand the page.</a:t>
            </a:r>
          </a:p>
        </p:txBody>
      </p:sp>
    </p:spTree>
    <p:extLst>
      <p:ext uri="{BB962C8B-B14F-4D97-AF65-F5344CB8AC3E}">
        <p14:creationId xmlns:p14="http://schemas.microsoft.com/office/powerpoint/2010/main" val="344845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04CF934-433B-49FA-B6E7-76602278475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l">
              <a:defRPr sz="975" b="1">
                <a:solidFill>
                  <a:srgbClr val="316BFF"/>
                </a:solidFill>
              </a:defRPr>
            </a:pPr>
            <a:r>
              <a:rPr sz="975" b="1">
                <a:solidFill>
                  <a:srgbClr val="316BFF"/>
                </a:solidFill>
              </a:rPr>
              <a:t>HTML VOCABULARY—NOW WITH REAL EXAMPLES.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4EC3E1-B0DE-4487-9687-23CD25F8D631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561"/>
          </a:bodyPr>
          <a:lstStyle/>
          <a:p>
            <a:pPr algn="l">
              <a:defRPr sz="2850" b="1">
                <a:solidFill>
                  <a:srgbClr val="18233A"/>
                </a:solidFill>
              </a:defRPr>
            </a:pPr>
            <a:r>
              <a:rPr sz="2850" b="1">
                <a:solidFill>
                  <a:srgbClr val="18233A"/>
                </a:solidFill>
              </a:rPr>
              <a:t>Key terms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A3B69A-622E-473F-A336-9D231A56CB95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2DD982-E101-4D36-B897-3B3E018E372D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HTML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6963C-0D16-4A7C-915C-3C7EFB6D2DE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10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9FAF21-DF8C-4B78-8588-57CB0AB6C30E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E8F1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51A76B-1C14-4BB5-9BDD-7828CBB3BA0B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1762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037" lnSpcReduction="20000"/>
          </a:bodyPr>
          <a:lstStyle/>
          <a:p>
            <a:pPr algn="l">
              <a:defRPr sz="1350" b="1">
                <a:solidFill>
                  <a:srgbClr val="316BFF"/>
                </a:solidFill>
              </a:defRPr>
            </a:pPr>
            <a:r>
              <a:rPr sz="1350" b="1">
                <a:solidFill>
                  <a:srgbClr val="316BFF"/>
                </a:solidFill>
              </a:rPr>
              <a:t>element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C5EC1D-6B82-4B44-8368-567DF4D7E608}"/>
              </a:ext>
            </a:extLst>
          </p:cNvPr>
          <p:cNvSpPr>
            <a:spLocks noGrp="1"/>
          </p:cNvSpPr>
          <p:nvPr/>
        </p:nvSpPr>
        <p:spPr>
          <a:xfrm>
            <a:off x="2667000" y="1924050"/>
            <a:ext cx="285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86" lnSpcReduction="20000"/>
          </a:bodyPr>
          <a:lstStyle/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&lt;p&gt;Hello&lt;/p&gt;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B056DA-F272-412B-A462-EC22DD6C9DF8}"/>
              </a:ext>
            </a:extLst>
          </p:cNvPr>
          <p:cNvSpPr>
            <a:spLocks noGrp="1"/>
          </p:cNvSpPr>
          <p:nvPr/>
        </p:nvSpPr>
        <p:spPr>
          <a:xfrm>
            <a:off x="6238875" y="1924050"/>
            <a:ext cx="3905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86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the complete unit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BAE2F6-723E-41C2-941D-FD4E0E8002C1}"/>
              </a:ext>
            </a:extLst>
          </p:cNvPr>
          <p:cNvSpPr>
            <a:spLocks noGrp="1"/>
          </p:cNvSpPr>
          <p:nvPr/>
        </p:nvSpPr>
        <p:spPr>
          <a:xfrm>
            <a:off x="666750" y="2486025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7FC6BF-51FB-4C78-B274-99A814CA63F8}"/>
              </a:ext>
            </a:extLst>
          </p:cNvPr>
          <p:cNvSpPr>
            <a:spLocks noGrp="1"/>
          </p:cNvSpPr>
          <p:nvPr/>
        </p:nvSpPr>
        <p:spPr>
          <a:xfrm>
            <a:off x="838200" y="2647950"/>
            <a:ext cx="1762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037" lnSpcReduction="20000"/>
          </a:bodyPr>
          <a:lstStyle/>
          <a:p>
            <a:pPr algn="l">
              <a:defRPr sz="1350" b="1">
                <a:solidFill>
                  <a:srgbClr val="316BFF"/>
                </a:solidFill>
              </a:defRPr>
            </a:pPr>
            <a:r>
              <a:rPr sz="1350" b="1">
                <a:solidFill>
                  <a:srgbClr val="316BFF"/>
                </a:solidFill>
              </a:rPr>
              <a:t>tag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58E73A-0CF4-4AC0-B89F-42ECB436D812}"/>
              </a:ext>
            </a:extLst>
          </p:cNvPr>
          <p:cNvSpPr>
            <a:spLocks noGrp="1"/>
          </p:cNvSpPr>
          <p:nvPr/>
        </p:nvSpPr>
        <p:spPr>
          <a:xfrm>
            <a:off x="2667000" y="2647950"/>
            <a:ext cx="285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86" lnSpcReduction="20000"/>
          </a:bodyPr>
          <a:lstStyle/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&lt;p&gt;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75B4B4-10EB-418B-96C9-BC14E3613B85}"/>
              </a:ext>
            </a:extLst>
          </p:cNvPr>
          <p:cNvSpPr>
            <a:spLocks noGrp="1"/>
          </p:cNvSpPr>
          <p:nvPr/>
        </p:nvSpPr>
        <p:spPr>
          <a:xfrm>
            <a:off x="6238875" y="2647950"/>
            <a:ext cx="3905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86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a label in angle brackets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56BC740-FF5B-4BF1-9767-DD20BAF1705B}"/>
              </a:ext>
            </a:extLst>
          </p:cNvPr>
          <p:cNvSpPr>
            <a:spLocks noGrp="1"/>
          </p:cNvSpPr>
          <p:nvPr/>
        </p:nvSpPr>
        <p:spPr>
          <a:xfrm>
            <a:off x="666750" y="3209925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E8F1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E667EA-234F-49B2-B71D-8F4456C08A23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1762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037" lnSpcReduction="20000"/>
          </a:bodyPr>
          <a:lstStyle/>
          <a:p>
            <a:pPr algn="l">
              <a:defRPr sz="1350" b="1">
                <a:solidFill>
                  <a:srgbClr val="316BFF"/>
                </a:solidFill>
              </a:defRPr>
            </a:pPr>
            <a:r>
              <a:rPr sz="1350" b="1">
                <a:solidFill>
                  <a:srgbClr val="316BFF"/>
                </a:solidFill>
              </a:rPr>
              <a:t>attribute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AED1AF-1AC3-48F8-8C03-4F53B351DCB8}"/>
              </a:ext>
            </a:extLst>
          </p:cNvPr>
          <p:cNvSpPr>
            <a:spLocks noGrp="1"/>
          </p:cNvSpPr>
          <p:nvPr/>
        </p:nvSpPr>
        <p:spPr>
          <a:xfrm>
            <a:off x="2667000" y="3371850"/>
            <a:ext cx="285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86" lnSpcReduction="20000"/>
          </a:bodyPr>
          <a:lstStyle/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alt="Hikers"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68BD4E-A619-4A0C-82DF-6A7FEF10A0D0}"/>
              </a:ext>
            </a:extLst>
          </p:cNvPr>
          <p:cNvSpPr>
            <a:spLocks noGrp="1"/>
          </p:cNvSpPr>
          <p:nvPr/>
        </p:nvSpPr>
        <p:spPr>
          <a:xfrm>
            <a:off x="6238875" y="3371850"/>
            <a:ext cx="3905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86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extra element information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EE93F0-C19F-4158-ACE2-A14380BF3558}"/>
              </a:ext>
            </a:extLst>
          </p:cNvPr>
          <p:cNvSpPr>
            <a:spLocks noGrp="1"/>
          </p:cNvSpPr>
          <p:nvPr/>
        </p:nvSpPr>
        <p:spPr>
          <a:xfrm>
            <a:off x="666750" y="3933825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6C8B97-8F4A-432F-8248-66E9AC74B3C0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1762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037" lnSpcReduction="20000"/>
          </a:bodyPr>
          <a:lstStyle/>
          <a:p>
            <a:pPr algn="l">
              <a:defRPr sz="1350" b="1">
                <a:solidFill>
                  <a:srgbClr val="316BFF"/>
                </a:solidFill>
              </a:defRPr>
            </a:pPr>
            <a:r>
              <a:rPr sz="1350" b="1">
                <a:solidFill>
                  <a:srgbClr val="316BFF"/>
                </a:solidFill>
              </a:rPr>
              <a:t>nesting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97B955-C0AF-42BB-9D88-04AF6A5810D1}"/>
              </a:ext>
            </a:extLst>
          </p:cNvPr>
          <p:cNvSpPr>
            <a:spLocks noGrp="1"/>
          </p:cNvSpPr>
          <p:nvPr/>
        </p:nvSpPr>
        <p:spPr>
          <a:xfrm>
            <a:off x="2667000" y="4095750"/>
            <a:ext cx="285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86" lnSpcReduction="20000"/>
          </a:bodyPr>
          <a:lstStyle/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&lt;li&gt;&lt;a&gt;Trail&lt;/a&gt;&lt;/li&gt;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7D6A66-F22E-4542-81AD-87A2E7B6FAB4}"/>
              </a:ext>
            </a:extLst>
          </p:cNvPr>
          <p:cNvSpPr>
            <a:spLocks noGrp="1"/>
          </p:cNvSpPr>
          <p:nvPr/>
        </p:nvSpPr>
        <p:spPr>
          <a:xfrm>
            <a:off x="6238875" y="4095750"/>
            <a:ext cx="3905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86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an element inside another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D8F1B5B-8D04-45A4-9BD6-87529243AB55}"/>
              </a:ext>
            </a:extLst>
          </p:cNvPr>
          <p:cNvSpPr>
            <a:spLocks noGrp="1"/>
          </p:cNvSpPr>
          <p:nvPr/>
        </p:nvSpPr>
        <p:spPr>
          <a:xfrm>
            <a:off x="666750" y="4657725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E8F1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F4B4F-A264-4CCE-A6CB-D635DB18A081}"/>
              </a:ext>
            </a:extLst>
          </p:cNvPr>
          <p:cNvSpPr>
            <a:spLocks noGrp="1"/>
          </p:cNvSpPr>
          <p:nvPr/>
        </p:nvSpPr>
        <p:spPr>
          <a:xfrm>
            <a:off x="838200" y="4819650"/>
            <a:ext cx="1762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7037" lnSpcReduction="20000"/>
          </a:bodyPr>
          <a:lstStyle/>
          <a:p>
            <a:pPr algn="l">
              <a:defRPr sz="1350" b="1">
                <a:solidFill>
                  <a:srgbClr val="316BFF"/>
                </a:solidFill>
              </a:defRPr>
            </a:pPr>
            <a:r>
              <a:rPr sz="1350" b="1">
                <a:solidFill>
                  <a:srgbClr val="316BFF"/>
                </a:solidFill>
              </a:rPr>
              <a:t>semantic HTML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3068FA-6754-4DC7-838F-9C1C348EBAF4}"/>
              </a:ext>
            </a:extLst>
          </p:cNvPr>
          <p:cNvSpPr>
            <a:spLocks noGrp="1"/>
          </p:cNvSpPr>
          <p:nvPr/>
        </p:nvSpPr>
        <p:spPr>
          <a:xfrm>
            <a:off x="2667000" y="4819650"/>
            <a:ext cx="285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86" lnSpcReduction="20000"/>
          </a:bodyPr>
          <a:lstStyle/>
          <a:p>
            <a:pPr algn="l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&lt;main&gt;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4EDEE0-2C11-4AEB-A074-808D8C3FEE95}"/>
              </a:ext>
            </a:extLst>
          </p:cNvPr>
          <p:cNvSpPr>
            <a:spLocks noGrp="1"/>
          </p:cNvSpPr>
          <p:nvPr/>
        </p:nvSpPr>
        <p:spPr>
          <a:xfrm>
            <a:off x="6238875" y="4819650"/>
            <a:ext cx="3905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686" lnSpcReduction="20000"/>
          </a:bodyPr>
          <a:lstStyle/>
          <a:p>
            <a:pPr algn="l">
              <a:defRPr sz="1275" b="0">
                <a:solidFill>
                  <a:srgbClr val="526077"/>
                </a:solidFill>
              </a:defRPr>
            </a:pPr>
            <a:r>
              <a:rPr sz="1275" b="0">
                <a:solidFill>
                  <a:srgbClr val="526077"/>
                </a:solidFill>
              </a:rPr>
              <a:t>an element with a purpose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C267F9-BDB7-44BC-B638-ABEA4E52CEE0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809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167" lnSpcReduction="20000"/>
          </a:bodyPr>
          <a:lstStyle/>
          <a:p>
            <a:pPr algn="l">
              <a:defRPr sz="1500" b="1">
                <a:solidFill>
                  <a:srgbClr val="18233A"/>
                </a:solidFill>
              </a:defRPr>
            </a:pPr>
            <a:r>
              <a:rPr sz="1500" b="1">
                <a:solidFill>
                  <a:srgbClr val="18233A"/>
                </a:solidFill>
              </a:rPr>
              <a:t>Read the example first; then connect it to the definition.</a:t>
            </a:r>
          </a:p>
        </p:txBody>
      </p:sp>
    </p:spTree>
    <p:extLst>
      <p:ext uri="{BB962C8B-B14F-4D97-AF65-F5344CB8AC3E}">
        <p14:creationId xmlns:p14="http://schemas.microsoft.com/office/powerpoint/2010/main" val="128025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93BB071-1A13-468F-9D42-702E3877FC7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1346" lnSpcReduction="20000"/>
          </a:bodyPr>
          <a:lstStyle/>
          <a:p>
            <a:pPr algn="l">
              <a:defRPr sz="975" b="1">
                <a:solidFill>
                  <a:srgbClr val="316BFF"/>
                </a:solidFill>
              </a:defRPr>
            </a:pPr>
            <a:r>
              <a:rPr sz="975" b="1">
                <a:solidFill>
                  <a:srgbClr val="316BFF"/>
                </a:solidFill>
              </a:rPr>
              <a:t>PRACTICE: TURN AN IDEA INTO A MEANINGFUL PAGE.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C3469A-7178-4855-A74C-7A98F8E37F32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561"/>
          </a:bodyPr>
          <a:lstStyle/>
          <a:p>
            <a:pPr algn="l">
              <a:defRPr sz="2850" b="1">
                <a:solidFill>
                  <a:srgbClr val="18233A"/>
                </a:solidFill>
              </a:defRPr>
            </a:pPr>
            <a:r>
              <a:rPr sz="2850" b="1">
                <a:solidFill>
                  <a:srgbClr val="18233A"/>
                </a:solidFill>
              </a:rPr>
              <a:t>Your turn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66556F-4854-4189-A7B8-C709BBBA1E79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19050"/>
          </a:xfrm>
          <a:prstGeom prst="rect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9594E2-5EFC-4AE1-AD12-B05A71361E74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HTML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4BD9D2-34E0-47EC-A3EB-9DE364C8F68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526077"/>
                </a:solidFill>
              </a:defRPr>
            </a:pPr>
            <a:r>
              <a:rPr sz="825" b="1">
                <a:solidFill>
                  <a:srgbClr val="526077"/>
                </a:solidFill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55C09E-E17C-4CA3-935F-FB3760587486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5429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595" lnSpcReduction="20000"/>
          </a:bodyPr>
          <a:lstStyle/>
          <a:p>
            <a:pPr algn="l">
              <a:defRPr sz="2100" b="1">
                <a:solidFill>
                  <a:srgbClr val="18233A"/>
                </a:solidFill>
              </a:defRPr>
            </a:pPr>
            <a:r>
              <a:rPr sz="2100" b="1">
                <a:solidFill>
                  <a:srgbClr val="18233A"/>
                </a:solidFill>
              </a:rPr>
              <a:t>Create a simple “About Me” page.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294E44-FF6F-4F72-844C-FC63450BFF09}"/>
              </a:ext>
            </a:extLst>
          </p:cNvPr>
          <p:cNvSpPr>
            <a:spLocks noGrp="1"/>
          </p:cNvSpPr>
          <p:nvPr/>
        </p:nvSpPr>
        <p:spPr>
          <a:xfrm>
            <a:off x="666750" y="2562225"/>
            <a:ext cx="114300" cy="114300"/>
          </a:xfrm>
          <a:prstGeom prst="ellipse">
            <a:avLst/>
          </a:prstGeom>
          <a:solidFill>
            <a:srgbClr val="316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068368-EDC6-45A9-8A58-9ED7E660AF74}"/>
              </a:ext>
            </a:extLst>
          </p:cNvPr>
          <p:cNvSpPr>
            <a:spLocks noGrp="1"/>
          </p:cNvSpPr>
          <p:nvPr/>
        </p:nvSpPr>
        <p:spPr>
          <a:xfrm>
            <a:off x="923925" y="2476500"/>
            <a:ext cx="52673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8233A"/>
                </a:solidFill>
              </a:defRPr>
            </a:pPr>
            <a:r>
              <a:rPr sz="1575" b="0">
                <a:solidFill>
                  <a:srgbClr val="18233A"/>
                </a:solidFill>
              </a:rPr>
              <a:t>Add a title inside &lt;head&gt;.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64C171-17F1-47CE-892E-B5C42C20D530}"/>
              </a:ext>
            </a:extLst>
          </p:cNvPr>
          <p:cNvSpPr>
            <a:spLocks noGrp="1"/>
          </p:cNvSpPr>
          <p:nvPr/>
        </p:nvSpPr>
        <p:spPr>
          <a:xfrm>
            <a:off x="666750" y="3095625"/>
            <a:ext cx="114300" cy="114300"/>
          </a:xfrm>
          <a:prstGeom prst="ellipse">
            <a:avLst/>
          </a:prstGeom>
          <a:solidFill>
            <a:srgbClr val="316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94D8BF-B7D7-4058-941B-E351CF6FF338}"/>
              </a:ext>
            </a:extLst>
          </p:cNvPr>
          <p:cNvSpPr>
            <a:spLocks noGrp="1"/>
          </p:cNvSpPr>
          <p:nvPr/>
        </p:nvSpPr>
        <p:spPr>
          <a:xfrm>
            <a:off x="923925" y="3009900"/>
            <a:ext cx="52673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8233A"/>
                </a:solidFill>
              </a:defRPr>
            </a:pPr>
            <a:r>
              <a:rPr sz="1575" b="0">
                <a:solidFill>
                  <a:srgbClr val="18233A"/>
                </a:solidFill>
              </a:rPr>
              <a:t>Use one &lt;h1&gt; and one paragraph.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970450-1270-49E0-BF29-82B6373096D9}"/>
              </a:ext>
            </a:extLst>
          </p:cNvPr>
          <p:cNvSpPr>
            <a:spLocks noGrp="1"/>
          </p:cNvSpPr>
          <p:nvPr/>
        </p:nvSpPr>
        <p:spPr>
          <a:xfrm>
            <a:off x="666750" y="3629025"/>
            <a:ext cx="114300" cy="114300"/>
          </a:xfrm>
          <a:prstGeom prst="ellipse">
            <a:avLst/>
          </a:prstGeom>
          <a:solidFill>
            <a:srgbClr val="316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0ADB18-63CB-4623-9167-E913CA7A249F}"/>
              </a:ext>
            </a:extLst>
          </p:cNvPr>
          <p:cNvSpPr>
            <a:spLocks noGrp="1"/>
          </p:cNvSpPr>
          <p:nvPr/>
        </p:nvSpPr>
        <p:spPr>
          <a:xfrm>
            <a:off x="923925" y="3543300"/>
            <a:ext cx="52673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8233A"/>
                </a:solidFill>
              </a:defRPr>
            </a:pPr>
            <a:r>
              <a:rPr sz="1575" b="0">
                <a:solidFill>
                  <a:srgbClr val="18233A"/>
                </a:solidFill>
              </a:rPr>
              <a:t>Add a short list of interests.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90C504-EBB9-4EF9-A402-C4B3DB5F8F8B}"/>
              </a:ext>
            </a:extLst>
          </p:cNvPr>
          <p:cNvSpPr>
            <a:spLocks noGrp="1"/>
          </p:cNvSpPr>
          <p:nvPr/>
        </p:nvSpPr>
        <p:spPr>
          <a:xfrm>
            <a:off x="666750" y="4162425"/>
            <a:ext cx="114300" cy="114300"/>
          </a:xfrm>
          <a:prstGeom prst="ellipse">
            <a:avLst/>
          </a:prstGeom>
          <a:solidFill>
            <a:srgbClr val="316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C37506-DE3F-43DF-9492-BB4601F9BC78}"/>
              </a:ext>
            </a:extLst>
          </p:cNvPr>
          <p:cNvSpPr>
            <a:spLocks noGrp="1"/>
          </p:cNvSpPr>
          <p:nvPr/>
        </p:nvSpPr>
        <p:spPr>
          <a:xfrm>
            <a:off x="923925" y="4076700"/>
            <a:ext cx="52673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8233A"/>
                </a:solidFill>
              </a:defRPr>
            </a:pPr>
            <a:r>
              <a:rPr sz="1575" b="0">
                <a:solidFill>
                  <a:srgbClr val="18233A"/>
                </a:solidFill>
              </a:rPr>
              <a:t>Include one image with alt text.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842BD18-9C69-4796-83C4-DA462DD4BF0C}"/>
              </a:ext>
            </a:extLst>
          </p:cNvPr>
          <p:cNvSpPr>
            <a:spLocks noGrp="1"/>
          </p:cNvSpPr>
          <p:nvPr/>
        </p:nvSpPr>
        <p:spPr>
          <a:xfrm>
            <a:off x="666750" y="4695825"/>
            <a:ext cx="114300" cy="114300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2930AF-9D1A-4BD2-BDC3-881AFE56AE94}"/>
              </a:ext>
            </a:extLst>
          </p:cNvPr>
          <p:cNvSpPr>
            <a:spLocks noGrp="1"/>
          </p:cNvSpPr>
          <p:nvPr/>
        </p:nvSpPr>
        <p:spPr>
          <a:xfrm>
            <a:off x="923925" y="4610100"/>
            <a:ext cx="52673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18233A"/>
                </a:solidFill>
              </a:defRPr>
            </a:pPr>
            <a:r>
              <a:rPr sz="1575" b="0">
                <a:solidFill>
                  <a:srgbClr val="18233A"/>
                </a:solidFill>
              </a:rPr>
              <a:t>Use &lt;header&gt;, &lt;main&gt;, and &lt;footer&gt;.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490C6AB-9087-49C1-A749-097BE2C52BAE}"/>
              </a:ext>
            </a:extLst>
          </p:cNvPr>
          <p:cNvSpPr>
            <a:spLocks noGrp="1"/>
          </p:cNvSpPr>
          <p:nvPr/>
        </p:nvSpPr>
        <p:spPr>
          <a:xfrm>
            <a:off x="7334250" y="2000250"/>
            <a:ext cx="3714750" cy="3238500"/>
          </a:xfrm>
          <a:prstGeom prst="roundRect">
            <a:avLst>
              <a:gd name="adj" fmla="val 2353"/>
            </a:avLst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037259-B01C-4105-8CA2-F89C62A833AE}"/>
              </a:ext>
            </a:extLst>
          </p:cNvPr>
          <p:cNvSpPr>
            <a:spLocks noGrp="1"/>
          </p:cNvSpPr>
          <p:nvPr/>
        </p:nvSpPr>
        <p:spPr>
          <a:xfrm>
            <a:off x="7543800" y="2171700"/>
            <a:ext cx="104775" cy="104775"/>
          </a:xfrm>
          <a:prstGeom prst="ellipse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F1145A-A929-49A7-929D-4601B60004C7}"/>
              </a:ext>
            </a:extLst>
          </p:cNvPr>
          <p:cNvSpPr>
            <a:spLocks noGrp="1"/>
          </p:cNvSpPr>
          <p:nvPr/>
        </p:nvSpPr>
        <p:spPr>
          <a:xfrm>
            <a:off x="7734300" y="2171700"/>
            <a:ext cx="104775" cy="104775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6D03F8C-C605-4DC2-AAE7-92376C6E2A68}"/>
              </a:ext>
            </a:extLst>
          </p:cNvPr>
          <p:cNvSpPr>
            <a:spLocks noGrp="1"/>
          </p:cNvSpPr>
          <p:nvPr/>
        </p:nvSpPr>
        <p:spPr>
          <a:xfrm>
            <a:off x="7924800" y="2171700"/>
            <a:ext cx="104775" cy="104775"/>
          </a:xfrm>
          <a:prstGeom prst="ellipse">
            <a:avLst/>
          </a:prstGeom>
          <a:solidFill>
            <a:srgbClr val="35D0B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1C3C9C-2926-4B9D-9174-0B9974147747}"/>
              </a:ext>
            </a:extLst>
          </p:cNvPr>
          <p:cNvSpPr>
            <a:spLocks noGrp="1"/>
          </p:cNvSpPr>
          <p:nvPr/>
        </p:nvSpPr>
        <p:spPr>
          <a:xfrm>
            <a:off x="7620000" y="2533650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&lt;header&gt;…&lt;/header&gt;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04847D-2EEE-4417-9AA3-BE9857E64879}"/>
              </a:ext>
            </a:extLst>
          </p:cNvPr>
          <p:cNvSpPr>
            <a:spLocks noGrp="1"/>
          </p:cNvSpPr>
          <p:nvPr/>
        </p:nvSpPr>
        <p:spPr>
          <a:xfrm>
            <a:off x="7620000" y="2809875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&lt;main&gt;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7FBA6E-ED74-4EE0-AF90-95F84D39F242}"/>
              </a:ext>
            </a:extLst>
          </p:cNvPr>
          <p:cNvSpPr>
            <a:spLocks noGrp="1"/>
          </p:cNvSpPr>
          <p:nvPr/>
        </p:nvSpPr>
        <p:spPr>
          <a:xfrm>
            <a:off x="7620000" y="3086100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EAF2FF"/>
                </a:solidFill>
              </a:defRPr>
            </a:pPr>
            <a:r>
              <a:rPr sz="1500" b="0">
                <a:solidFill>
                  <a:srgbClr val="EAF2FF"/>
                </a:solidFill>
              </a:rPr>
              <a:t>  &lt;h1&gt;Your name&lt;/h1&gt;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12FD17-D73E-44F3-BE0B-281F85E3DD27}"/>
              </a:ext>
            </a:extLst>
          </p:cNvPr>
          <p:cNvSpPr>
            <a:spLocks noGrp="1"/>
          </p:cNvSpPr>
          <p:nvPr/>
        </p:nvSpPr>
        <p:spPr>
          <a:xfrm>
            <a:off x="7620000" y="3362325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EAF2FF"/>
                </a:solidFill>
              </a:defRPr>
            </a:pPr>
            <a:r>
              <a:rPr sz="1500" b="0">
                <a:solidFill>
                  <a:srgbClr val="EAF2FF"/>
                </a:solidFill>
              </a:rPr>
              <a:t>  &lt;p&gt;…&lt;/p&gt;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379DDB-0B63-44B7-B3BD-922D9CDB0C7A}"/>
              </a:ext>
            </a:extLst>
          </p:cNvPr>
          <p:cNvSpPr>
            <a:spLocks noGrp="1"/>
          </p:cNvSpPr>
          <p:nvPr/>
        </p:nvSpPr>
        <p:spPr>
          <a:xfrm>
            <a:off x="7620000" y="3638550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EAF2FF"/>
                </a:solidFill>
              </a:defRPr>
            </a:pPr>
            <a:r>
              <a:rPr sz="1500" b="0">
                <a:solidFill>
                  <a:srgbClr val="EAF2FF"/>
                </a:solidFill>
              </a:rPr>
              <a:t>&lt;/main&gt;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87A5E1-0BB0-4F26-8213-12AA5FEE6294}"/>
              </a:ext>
            </a:extLst>
          </p:cNvPr>
          <p:cNvSpPr>
            <a:spLocks noGrp="1"/>
          </p:cNvSpPr>
          <p:nvPr/>
        </p:nvSpPr>
        <p:spPr>
          <a:xfrm>
            <a:off x="7620000" y="3914775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7DD3FC"/>
                </a:solidFill>
              </a:defRPr>
            </a:pPr>
            <a:r>
              <a:rPr sz="1500" b="0">
                <a:solidFill>
                  <a:srgbClr val="7DD3FC"/>
                </a:solidFill>
              </a:rPr>
              <a:t>&lt;footer&gt;…&lt;/footer&gt;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947E34-E979-491A-8A58-2C784C84D53D}"/>
              </a:ext>
            </a:extLst>
          </p:cNvPr>
          <p:cNvSpPr>
            <a:spLocks noGrp="1"/>
          </p:cNvSpPr>
          <p:nvPr/>
        </p:nvSpPr>
        <p:spPr>
          <a:xfrm>
            <a:off x="666750" y="5600700"/>
            <a:ext cx="714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73" lnSpcReduction="20000"/>
          </a:bodyPr>
          <a:lstStyle/>
          <a:p>
            <a:pPr algn="l">
              <a:defRPr sz="1650" b="0">
                <a:solidFill>
                  <a:srgbClr val="526077"/>
                </a:solidFill>
              </a:defRPr>
            </a:pPr>
            <a:r>
              <a:rPr sz="1650" b="0">
                <a:solidFill>
                  <a:srgbClr val="526077"/>
                </a:solidFill>
              </a:rPr>
              <a:t>Structure first. Styling comes next with CSS.</a:t>
            </a:r>
          </a:p>
        </p:txBody>
      </p:sp>
    </p:spTree>
    <p:extLst>
      <p:ext uri="{BB962C8B-B14F-4D97-AF65-F5344CB8AC3E}">
        <p14:creationId xmlns:p14="http://schemas.microsoft.com/office/powerpoint/2010/main" val="569002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B84AE97-3A5A-42FC-BF30-56807EB0A076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57500" lnSpcReduction="20000"/>
          </a:bodyPr>
          <a:lstStyle/>
          <a:p>
            <a:pPr algn="l">
              <a:defRPr sz="1050" b="1">
                <a:solidFill>
                  <a:srgbClr val="9FC1FF"/>
                </a:solidFill>
              </a:defRPr>
            </a:pPr>
            <a:r>
              <a:rPr sz="1050" b="1">
                <a:solidFill>
                  <a:srgbClr val="9FC1FF"/>
                </a:solidFill>
              </a:rPr>
              <a:t>WRAP-UP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FCFB98-E86C-4615-A119-6DE7BCF61CF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8858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949" lnSpcReduction="10000"/>
          </a:bodyPr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Good HTML makes a page easier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to read, use, and build 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34BCA3-5B6C-4F2D-B8D9-F68491B287C8}"/>
              </a:ext>
            </a:extLst>
          </p:cNvPr>
          <p:cNvSpPr>
            <a:spLocks noGrp="1"/>
          </p:cNvSpPr>
          <p:nvPr/>
        </p:nvSpPr>
        <p:spPr>
          <a:xfrm>
            <a:off x="666750" y="323850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 lnSpcReduction="20000"/>
          </a:bodyPr>
          <a:lstStyle/>
          <a:p>
            <a:pPr algn="l">
              <a:defRPr sz="2700" b="1">
                <a:solidFill>
                  <a:srgbClr val="35D0BA"/>
                </a:solidFill>
              </a:defRPr>
            </a:pPr>
            <a:r>
              <a:rPr sz="2700" b="1">
                <a:solidFill>
                  <a:srgbClr val="35D0BA"/>
                </a:solidFill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13F759-F355-4F47-AFCB-6A62851545E2}"/>
              </a:ext>
            </a:extLst>
          </p:cNvPr>
          <p:cNvSpPr>
            <a:spLocks noGrp="1"/>
          </p:cNvSpPr>
          <p:nvPr/>
        </p:nvSpPr>
        <p:spPr>
          <a:xfrm>
            <a:off x="666750" y="38481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36" lnSpcReduction="20000"/>
          </a:bodyPr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05A05F-ED64-47D3-9F29-B55E0E20C8A0}"/>
              </a:ext>
            </a:extLst>
          </p:cNvPr>
          <p:cNvSpPr>
            <a:spLocks noGrp="1"/>
          </p:cNvSpPr>
          <p:nvPr/>
        </p:nvSpPr>
        <p:spPr>
          <a:xfrm>
            <a:off x="666750" y="4400550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234" lnSpcReduction="10000"/>
          </a:bodyPr>
          <a:lstStyle/>
          <a:p>
            <a:pPr algn="l">
              <a:defRPr sz="1425" b="0">
                <a:solidFill>
                  <a:srgbClr val="D5DCEC"/>
                </a:solidFill>
              </a:defRPr>
            </a:pPr>
            <a:r>
              <a:rPr sz="1425" b="0">
                <a:solidFill>
                  <a:srgbClr val="D5DCEC"/>
                </a:solidFill>
              </a:rPr>
              <a:t>Organize content with elements.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5B6438-9A29-4199-BCD5-66BB7FB87F28}"/>
              </a:ext>
            </a:extLst>
          </p:cNvPr>
          <p:cNvSpPr>
            <a:spLocks noGrp="1"/>
          </p:cNvSpPr>
          <p:nvPr/>
        </p:nvSpPr>
        <p:spPr>
          <a:xfrm>
            <a:off x="4267200" y="323850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 lnSpcReduction="20000"/>
          </a:bodyPr>
          <a:lstStyle/>
          <a:p>
            <a:pPr algn="l">
              <a:defRPr sz="2700" b="1">
                <a:solidFill>
                  <a:srgbClr val="35D0BA"/>
                </a:solidFill>
              </a:defRPr>
            </a:pPr>
            <a:r>
              <a:rPr sz="2700" b="1">
                <a:solidFill>
                  <a:srgbClr val="35D0BA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2AF007-C32E-4D7D-A73D-3B0D66033AE2}"/>
              </a:ext>
            </a:extLst>
          </p:cNvPr>
          <p:cNvSpPr>
            <a:spLocks noGrp="1"/>
          </p:cNvSpPr>
          <p:nvPr/>
        </p:nvSpPr>
        <p:spPr>
          <a:xfrm>
            <a:off x="4267200" y="38481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36" lnSpcReduction="20000"/>
          </a:bodyPr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EDEA8A-6E33-4A6C-B5ED-9002F4ACDB4D}"/>
              </a:ext>
            </a:extLst>
          </p:cNvPr>
          <p:cNvSpPr>
            <a:spLocks noGrp="1"/>
          </p:cNvSpPr>
          <p:nvPr/>
        </p:nvSpPr>
        <p:spPr>
          <a:xfrm>
            <a:off x="4267200" y="4400550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318" lnSpcReduction="10000"/>
          </a:bodyPr>
          <a:lstStyle/>
          <a:p>
            <a:pPr algn="l">
              <a:defRPr sz="1425" b="0">
                <a:solidFill>
                  <a:srgbClr val="D5DCEC"/>
                </a:solidFill>
              </a:defRPr>
            </a:pPr>
            <a:r>
              <a:rPr sz="1425" b="0">
                <a:solidFill>
                  <a:srgbClr val="D5DCEC"/>
                </a:solidFill>
              </a:rPr>
              <a:t>Choose tags by their purpose.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38906C-B35D-499D-A644-E6ABD61F5168}"/>
              </a:ext>
            </a:extLst>
          </p:cNvPr>
          <p:cNvSpPr>
            <a:spLocks noGrp="1"/>
          </p:cNvSpPr>
          <p:nvPr/>
        </p:nvSpPr>
        <p:spPr>
          <a:xfrm>
            <a:off x="7867650" y="323850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 lnSpcReduction="20000"/>
          </a:bodyPr>
          <a:lstStyle/>
          <a:p>
            <a:pPr algn="l">
              <a:defRPr sz="2700" b="1">
                <a:solidFill>
                  <a:srgbClr val="35D0BA"/>
                </a:solidFill>
              </a:defRPr>
            </a:pPr>
            <a:r>
              <a:rPr sz="2700" b="1">
                <a:solidFill>
                  <a:srgbClr val="35D0BA"/>
                </a:solidFill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B9E41E-3A0F-4A38-8CE1-88F5497D8B16}"/>
              </a:ext>
            </a:extLst>
          </p:cNvPr>
          <p:cNvSpPr>
            <a:spLocks noGrp="1"/>
          </p:cNvSpPr>
          <p:nvPr/>
        </p:nvSpPr>
        <p:spPr>
          <a:xfrm>
            <a:off x="7867650" y="38481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136" lnSpcReduction="20000"/>
          </a:bodyPr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Details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5BE5E3-264E-4DC3-969F-66C29D09AFC4}"/>
              </a:ext>
            </a:extLst>
          </p:cNvPr>
          <p:cNvSpPr>
            <a:spLocks noGrp="1"/>
          </p:cNvSpPr>
          <p:nvPr/>
        </p:nvSpPr>
        <p:spPr>
          <a:xfrm>
            <a:off x="7867650" y="4400550"/>
            <a:ext cx="2571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71" lnSpcReduction="10000"/>
          </a:bodyPr>
          <a:lstStyle/>
          <a:p>
            <a:pPr algn="l">
              <a:defRPr sz="1425" b="0">
                <a:solidFill>
                  <a:srgbClr val="D5DCEC"/>
                </a:solidFill>
              </a:defRPr>
            </a:pPr>
            <a:r>
              <a:rPr sz="1425" b="0">
                <a:solidFill>
                  <a:srgbClr val="D5DCEC"/>
                </a:solidFill>
              </a:rPr>
              <a:t>Use attributes to add context.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EEABAB-B096-4DEC-9C26-D9C38C7C56B9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10810875" cy="38100"/>
          </a:xfrm>
          <a:prstGeom prst="rect">
            <a:avLst/>
          </a:prstGeom>
          <a:solidFill>
            <a:srgbClr val="316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83CA62-C1B2-40A1-AF51-370F2BF90D32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9048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 lnSpcReduction="20000"/>
          </a:bodyPr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Next: Use CSS to turn this structure into a visual design.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06995-E2D9-4F52-B01B-C8CC5C413048}"/>
              </a:ext>
            </a:extLst>
          </p:cNvPr>
          <p:cNvSpPr>
            <a:spLocks noGrp="1"/>
          </p:cNvSpPr>
          <p:nvPr/>
        </p:nvSpPr>
        <p:spPr>
          <a:xfrm>
            <a:off x="666750" y="6496050"/>
            <a:ext cx="2190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l">
              <a:defRPr sz="825" b="1">
                <a:solidFill>
                  <a:srgbClr val="B9C6DF"/>
                </a:solidFill>
              </a:defRPr>
            </a:pPr>
            <a:r>
              <a:rPr sz="825" b="1">
                <a:solidFill>
                  <a:srgbClr val="B9C6DF"/>
                </a:solidFill>
              </a:rPr>
              <a:t>HTML FUNDAMENTALS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9ADDED-0548-46D0-8825-CE2EFAF20F5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381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63485" lnSpcReduction="20000"/>
          </a:bodyPr>
          <a:lstStyle/>
          <a:p>
            <a:pPr algn="r">
              <a:defRPr sz="825" b="1">
                <a:solidFill>
                  <a:srgbClr val="B9C6DF"/>
                </a:solidFill>
              </a:defRPr>
            </a:pPr>
            <a:r>
              <a:rPr sz="825" b="1">
                <a:solidFill>
                  <a:srgbClr val="B9C6D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5402431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144</TotalTime>
  <Words>905</Words>
  <Application>Microsoft Macintosh PowerPoint</Application>
  <DocSecurity>0</DocSecurity>
  <PresentationFormat>Widescreen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JasmineUPC</vt:lpstr>
      <vt:lpstr>Raleway</vt:lpstr>
      <vt:lpstr>School Days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Ethan Akarapunchai</cp:lastModifiedBy>
  <cp:revision>5</cp:revision>
  <dcterms:created xsi:type="dcterms:W3CDTF">2026-08-31T19:43:20Z</dcterms:created>
  <dcterms:modified xsi:type="dcterms:W3CDTF">2026-08-31T23:54:16Z</dcterms:modified>
</cp:coreProperties>
</file>